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147473342" r:id="rId5"/>
    <p:sldId id="2147473347" r:id="rId6"/>
    <p:sldId id="2147473345" r:id="rId7"/>
    <p:sldId id="2147473350" r:id="rId8"/>
    <p:sldId id="2147473349" r:id="rId9"/>
    <p:sldId id="2147473351" r:id="rId10"/>
    <p:sldId id="2147473355" r:id="rId11"/>
    <p:sldId id="2147473356" r:id="rId12"/>
    <p:sldId id="2147473357" r:id="rId13"/>
    <p:sldId id="2147473358" r:id="rId14"/>
    <p:sldId id="2147473359" r:id="rId15"/>
    <p:sldId id="214747336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EC41B"/>
    <a:srgbClr val="1BC47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AAE714-9818-3546-8C51-8B6A281BA3B5}" v="1088" dt="2025-11-28T08:52:36.21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2"/>
    <p:restoredTop sz="94707"/>
  </p:normalViewPr>
  <p:slideViewPr>
    <p:cSldViewPr snapToGrid="0">
      <p:cViewPr varScale="1">
        <p:scale>
          <a:sx n="115" d="100"/>
          <a:sy n="115" d="100"/>
        </p:scale>
        <p:origin x="40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DEAC74B-C0D9-1B45-9F76-FE1FCC1A154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2.png"/><Relationship Id="rId7" Type="http://schemas.openxmlformats.org/officeDocument/2006/relationships/image" Target="../media/image5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microsoft.com/office/2007/relationships/hdphoto" Target="../media/hdphoto1.wdp"/><Relationship Id="rId9" Type="http://schemas.openxmlformats.org/officeDocument/2006/relationships/image" Target="../media/image7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microsoft.com/office/2007/relationships/hdphoto" Target="../media/hdphoto4.wdp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microsoft.com/office/2007/relationships/hdphoto" Target="../media/hdphoto3.wdp"/><Relationship Id="rId5" Type="http://schemas.openxmlformats.org/officeDocument/2006/relationships/image" Target="../media/image11.png"/><Relationship Id="rId10" Type="http://schemas.openxmlformats.org/officeDocument/2006/relationships/image" Target="../media/image15.png"/><Relationship Id="rId4" Type="http://schemas.openxmlformats.org/officeDocument/2006/relationships/image" Target="../media/image10.png"/><Relationship Id="rId9" Type="http://schemas.microsoft.com/office/2007/relationships/hdphoto" Target="../media/hdphoto2.wdp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2.png"/><Relationship Id="rId7" Type="http://schemas.openxmlformats.org/officeDocument/2006/relationships/image" Target="../media/image5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microsoft.com/office/2007/relationships/hdphoto" Target="../media/hdphoto1.wdp"/><Relationship Id="rId9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Aviation Photos, Download The BEST Free Aviation Stock Photos &amp; HD Images">
            <a:extLst>
              <a:ext uri="{FF2B5EF4-FFF2-40B4-BE49-F238E27FC236}">
                <a16:creationId xmlns:a16="http://schemas.microsoft.com/office/drawing/2014/main" id="{27104CE6-C125-27E7-BB21-0CF47BE0BD2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483" b="3871"/>
          <a:stretch>
            <a:fillRect/>
          </a:stretch>
        </p:blipFill>
        <p:spPr bwMode="auto">
          <a:xfrm flipH="1">
            <a:off x="-30346" y="0"/>
            <a:ext cx="1225005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FB616AC-4D4C-F356-CF3B-D33EE6C7E04C}"/>
              </a:ext>
            </a:extLst>
          </p:cNvPr>
          <p:cNvSpPr/>
          <p:nvPr/>
        </p:nvSpPr>
        <p:spPr>
          <a:xfrm>
            <a:off x="-30346" y="13808"/>
            <a:ext cx="12250056" cy="6858000"/>
          </a:xfrm>
          <a:prstGeom prst="rect">
            <a:avLst/>
          </a:prstGeom>
          <a:gradFill>
            <a:gsLst>
              <a:gs pos="0">
                <a:schemeClr val="accent3">
                  <a:lumMod val="60000"/>
                  <a:lumOff val="40000"/>
                  <a:alpha val="25000"/>
                </a:schemeClr>
              </a:gs>
              <a:gs pos="50000">
                <a:schemeClr val="bg2">
                  <a:alpha val="52848"/>
                </a:schemeClr>
              </a:gs>
              <a:gs pos="100000">
                <a:schemeClr val="tx1">
                  <a:alpha val="65884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820308-13B9-67A5-D87A-F5DD3FF8C23B}"/>
              </a:ext>
            </a:extLst>
          </p:cNvPr>
          <p:cNvSpPr txBox="1"/>
          <p:nvPr/>
        </p:nvSpPr>
        <p:spPr>
          <a:xfrm>
            <a:off x="390208" y="3293180"/>
            <a:ext cx="9784080" cy="1692771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Montserrat" pitchFamily="2" charset="77"/>
                <a:ea typeface="Helvetica Neue" panose="02000503000000020004" pitchFamily="2" charset="0"/>
                <a:cs typeface="Segoe UI Semibold" panose="020B0702040204020203" pitchFamily="34" charset="0"/>
              </a:rPr>
              <a:t>Powering Sustainable Aviation </a:t>
            </a:r>
            <a:r>
              <a:rPr kumimoji="0" lang="en-US" sz="320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Montserrat" pitchFamily="2" charset="77"/>
                <a:ea typeface="Helvetica Neue" panose="02000503000000020004" pitchFamily="2" charset="0"/>
                <a:cs typeface="Segoe UI Semibold" panose="020B0702040204020203" pitchFamily="34" charset="0"/>
              </a:rPr>
              <a:t>Strategic Pathways for SAF Infrastructure and Policy Incentives</a:t>
            </a:r>
            <a:endParaRPr kumimoji="0" lang="en-US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Montserrat" pitchFamily="2" charset="77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7A5C520-5118-394B-AD34-403B0D6AACA5}"/>
              </a:ext>
            </a:extLst>
          </p:cNvPr>
          <p:cNvSpPr/>
          <p:nvPr/>
        </p:nvSpPr>
        <p:spPr>
          <a:xfrm>
            <a:off x="0" y="5778000"/>
            <a:ext cx="12192000" cy="1080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accent3"/>
              </a:solidFill>
              <a:effectLst/>
              <a:uLnTx/>
              <a:uFillTx/>
              <a:latin typeface="Montserrat" pitchFamily="2" charset="77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C58C701-2B98-7C0D-3B59-FF5DCC394E68}"/>
              </a:ext>
            </a:extLst>
          </p:cNvPr>
          <p:cNvSpPr/>
          <p:nvPr/>
        </p:nvSpPr>
        <p:spPr>
          <a:xfrm>
            <a:off x="5257800" y="5235782"/>
            <a:ext cx="1080000" cy="1080000"/>
          </a:xfrm>
          <a:prstGeom prst="ellipse">
            <a:avLst/>
          </a:prstGeom>
          <a:solidFill>
            <a:schemeClr val="bg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 pitchFamily="2" charset="77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C85A5B2-2871-783F-1897-D873714C9473}"/>
              </a:ext>
            </a:extLst>
          </p:cNvPr>
          <p:cNvSpPr/>
          <p:nvPr/>
        </p:nvSpPr>
        <p:spPr>
          <a:xfrm>
            <a:off x="9196968" y="5235782"/>
            <a:ext cx="1080000" cy="1080000"/>
          </a:xfrm>
          <a:prstGeom prst="ellipse">
            <a:avLst/>
          </a:prstGeom>
          <a:solidFill>
            <a:schemeClr val="bg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 pitchFamily="2" charset="77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52A1AD9-B1AF-B415-D95A-EDADE07D708B}"/>
              </a:ext>
            </a:extLst>
          </p:cNvPr>
          <p:cNvSpPr/>
          <p:nvPr/>
        </p:nvSpPr>
        <p:spPr>
          <a:xfrm>
            <a:off x="10510024" y="5235782"/>
            <a:ext cx="1080000" cy="1080000"/>
          </a:xfrm>
          <a:prstGeom prst="ellipse">
            <a:avLst/>
          </a:prstGeom>
          <a:solidFill>
            <a:schemeClr val="bg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 pitchFamily="2" charset="77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8F462ED9-3BC4-E477-1DB1-43AFBA80A758}"/>
              </a:ext>
            </a:extLst>
          </p:cNvPr>
          <p:cNvSpPr/>
          <p:nvPr/>
        </p:nvSpPr>
        <p:spPr>
          <a:xfrm>
            <a:off x="7883912" y="5235782"/>
            <a:ext cx="1080000" cy="1080000"/>
          </a:xfrm>
          <a:prstGeom prst="ellipse">
            <a:avLst/>
          </a:prstGeom>
          <a:solidFill>
            <a:schemeClr val="bg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 pitchFamily="2" charset="7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D40A82B-E5D3-D076-D7F4-ABCBBC41DA95}"/>
              </a:ext>
            </a:extLst>
          </p:cNvPr>
          <p:cNvSpPr txBox="1"/>
          <p:nvPr/>
        </p:nvSpPr>
        <p:spPr>
          <a:xfrm>
            <a:off x="10510024" y="6352401"/>
            <a:ext cx="1080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Montserrat" pitchFamily="2" charset="77"/>
                <a:ea typeface="Helvetica Neue" panose="02000503000000020004" pitchFamily="2" charset="0"/>
                <a:cs typeface="Helvetica Neue" panose="02000503000000020004" pitchFamily="2" charset="0"/>
              </a:rPr>
              <a:t>Bassem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43E06F1-8ED6-E10E-BEB8-FD2D64B3A390}"/>
              </a:ext>
            </a:extLst>
          </p:cNvPr>
          <p:cNvSpPr txBox="1"/>
          <p:nvPr/>
        </p:nvSpPr>
        <p:spPr>
          <a:xfrm>
            <a:off x="5257800" y="6352401"/>
            <a:ext cx="1080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Montserrat" pitchFamily="2" charset="77"/>
                <a:ea typeface="Helvetica Neue" panose="02000503000000020004" pitchFamily="2" charset="0"/>
                <a:cs typeface="Helvetica Neue" panose="02000503000000020004" pitchFamily="2" charset="0"/>
              </a:rPr>
              <a:t>Nicolas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C2B46B0-0D54-020E-8CF3-84D2E549C09E}"/>
              </a:ext>
            </a:extLst>
          </p:cNvPr>
          <p:cNvSpPr txBox="1"/>
          <p:nvPr/>
        </p:nvSpPr>
        <p:spPr>
          <a:xfrm>
            <a:off x="6570856" y="6352401"/>
            <a:ext cx="1080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Montserrat" pitchFamily="2" charset="77"/>
                <a:ea typeface="Helvetica Neue" panose="02000503000000020004" pitchFamily="2" charset="0"/>
                <a:cs typeface="Helvetica Neue" panose="02000503000000020004" pitchFamily="2" charset="0"/>
              </a:rPr>
              <a:t>Tito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AD16197-E51E-D0C3-3CE7-99AB65DE9BD8}"/>
              </a:ext>
            </a:extLst>
          </p:cNvPr>
          <p:cNvSpPr txBox="1"/>
          <p:nvPr/>
        </p:nvSpPr>
        <p:spPr>
          <a:xfrm>
            <a:off x="7883912" y="6352401"/>
            <a:ext cx="1080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0">
                <a:solidFill>
                  <a:schemeClr val="tx2"/>
                </a:solidFill>
                <a:latin typeface="Montserrat" pitchFamily="2" charset="77"/>
                <a:ea typeface="Helvetica Neue" panose="02000503000000020004" pitchFamily="2" charset="0"/>
                <a:cs typeface="Helvetica Neue" panose="02000503000000020004" pitchFamily="2" charset="0"/>
              </a:rPr>
              <a:t>Theo</a:t>
            </a:r>
            <a:endParaRPr kumimoji="0" lang="en-US" sz="12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Montserrat" pitchFamily="2" charset="77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075A248-9BB9-1AB3-7B4E-8667D1697DB3}"/>
              </a:ext>
            </a:extLst>
          </p:cNvPr>
          <p:cNvSpPr txBox="1"/>
          <p:nvPr/>
        </p:nvSpPr>
        <p:spPr>
          <a:xfrm>
            <a:off x="9196968" y="6352401"/>
            <a:ext cx="1080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0">
                <a:solidFill>
                  <a:schemeClr val="tx2"/>
                </a:solidFill>
                <a:latin typeface="Montserrat" pitchFamily="2" charset="77"/>
                <a:ea typeface="Helvetica Neue" panose="02000503000000020004" pitchFamily="2" charset="0"/>
                <a:cs typeface="Helvetica Neue" panose="02000503000000020004" pitchFamily="2" charset="0"/>
              </a:rPr>
              <a:t>Pablo</a:t>
            </a:r>
            <a:endParaRPr kumimoji="0" lang="en-US" sz="12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Montserrat" pitchFamily="2" charset="77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521123-F5F9-666C-C99D-502928F513B2}"/>
              </a:ext>
            </a:extLst>
          </p:cNvPr>
          <p:cNvSpPr txBox="1"/>
          <p:nvPr/>
        </p:nvSpPr>
        <p:spPr>
          <a:xfrm>
            <a:off x="372552" y="6023394"/>
            <a:ext cx="39355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Montserrat" pitchFamily="2" charset="77"/>
                <a:ea typeface="Helvetica Neue" panose="02000503000000020004" pitchFamily="2" charset="0"/>
                <a:cs typeface="Helvetica Neue" panose="02000503000000020004" pitchFamily="2" charset="0"/>
              </a:rPr>
              <a:t>IEU  Sustainability </a:t>
            </a:r>
            <a:r>
              <a:rPr kumimoji="0" lang="en-US" sz="1600" b="1" i="0" u="none" strike="noStrike" kern="0" cap="none" spc="0" normalizeH="0" baseline="0" noProof="0" dirty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Montserrat" pitchFamily="2" charset="77"/>
                <a:ea typeface="Helvetica Neue" panose="02000503000000020004" pitchFamily="2" charset="0"/>
                <a:cs typeface="Helvetica Neue" panose="02000503000000020004" pitchFamily="2" charset="0"/>
              </a:rPr>
              <a:t>Datathon</a:t>
            </a:r>
            <a:endParaRPr kumimoji="0" lang="en-US" sz="16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Montserrat" pitchFamily="2" charset="77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1" kern="0" dirty="0">
                <a:solidFill>
                  <a:schemeClr val="accent3"/>
                </a:solidFill>
                <a:latin typeface="Montserrat" pitchFamily="2" charset="77"/>
                <a:ea typeface="Helvetica Neue" panose="02000503000000020004" pitchFamily="2" charset="0"/>
                <a:cs typeface="Helvetica Neue" panose="02000503000000020004" pitchFamily="2" charset="0"/>
              </a:rPr>
              <a:t>7th Edition: December 2025</a:t>
            </a:r>
            <a:endParaRPr kumimoji="0" lang="en-US" sz="1600" b="1" i="0" u="none" strike="noStrike" kern="0" cap="none" spc="0" normalizeH="0" baseline="0" noProof="0" dirty="0">
              <a:ln>
                <a:noFill/>
              </a:ln>
              <a:solidFill>
                <a:schemeClr val="accent3"/>
              </a:solidFill>
              <a:effectLst/>
              <a:uLnTx/>
              <a:uFillTx/>
              <a:latin typeface="Montserrat" pitchFamily="2" charset="77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BBB5987-861A-EB28-8B46-3E68AF9EB6CD}"/>
              </a:ext>
            </a:extLst>
          </p:cNvPr>
          <p:cNvSpPr/>
          <p:nvPr/>
        </p:nvSpPr>
        <p:spPr>
          <a:xfrm>
            <a:off x="6570856" y="5235782"/>
            <a:ext cx="1080000" cy="1080000"/>
          </a:xfrm>
          <a:prstGeom prst="ellipse">
            <a:avLst/>
          </a:prstGeom>
          <a:solidFill>
            <a:schemeClr val="bg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 pitchFamily="2" charset="77"/>
            </a:endParaRPr>
          </a:p>
        </p:txBody>
      </p:sp>
      <p:pic>
        <p:nvPicPr>
          <p:cNvPr id="23" name="Picture 2" descr="Iata Logo PNG Vectors Free Download">
            <a:extLst>
              <a:ext uri="{FF2B5EF4-FFF2-40B4-BE49-F238E27FC236}">
                <a16:creationId xmlns:a16="http://schemas.microsoft.com/office/drawing/2014/main" id="{B7738F08-9E1D-FD0B-B858-FE8C1F1904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72627" y="-54430"/>
            <a:ext cx="762001" cy="762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Profile image">
            <a:extLst>
              <a:ext uri="{FF2B5EF4-FFF2-40B4-BE49-F238E27FC236}">
                <a16:creationId xmlns:a16="http://schemas.microsoft.com/office/drawing/2014/main" id="{935A1832-C96E-D18D-A6B6-5051AC17BA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2248" y="5259639"/>
            <a:ext cx="1044000" cy="1044000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Profile image">
            <a:extLst>
              <a:ext uri="{FF2B5EF4-FFF2-40B4-BE49-F238E27FC236}">
                <a16:creationId xmlns:a16="http://schemas.microsoft.com/office/drawing/2014/main" id="{6395E57F-B87E-8ABC-7024-0772122AD8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3559" y="5259639"/>
            <a:ext cx="1044000" cy="1044000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Profile image">
            <a:extLst>
              <a:ext uri="{FF2B5EF4-FFF2-40B4-BE49-F238E27FC236}">
                <a16:creationId xmlns:a16="http://schemas.microsoft.com/office/drawing/2014/main" id="{89D2E9C7-498D-5442-F78E-544A7F8DBD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8856" y="5259639"/>
            <a:ext cx="1044000" cy="1044000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Profile image">
            <a:extLst>
              <a:ext uri="{FF2B5EF4-FFF2-40B4-BE49-F238E27FC236}">
                <a16:creationId xmlns:a16="http://schemas.microsoft.com/office/drawing/2014/main" id="{7487FBD3-B3ED-C694-CADF-EB2C919513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14968" y="5259639"/>
            <a:ext cx="1044000" cy="1044000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4" name="Picture 12" descr="Profile image">
            <a:extLst>
              <a:ext uri="{FF2B5EF4-FFF2-40B4-BE49-F238E27FC236}">
                <a16:creationId xmlns:a16="http://schemas.microsoft.com/office/drawing/2014/main" id="{886FA6C2-5C55-54CD-B656-D480524FAD7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453" t="16068" r="23930" b="31552"/>
          <a:stretch>
            <a:fillRect/>
          </a:stretch>
        </p:blipFill>
        <p:spPr bwMode="auto">
          <a:xfrm>
            <a:off x="10528024" y="5259639"/>
            <a:ext cx="1044000" cy="1044000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B9AFE4-ACB3-9D8B-D31A-2455BE74B1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C6C30D5C-0324-03BE-FD5B-15C363AD498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962"/>
          <a:stretch>
            <a:fillRect/>
          </a:stretch>
        </p:blipFill>
        <p:spPr>
          <a:xfrm>
            <a:off x="323800" y="2049550"/>
            <a:ext cx="4584813" cy="227668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7DC01C2-F260-8CD2-216C-3DD11DC83A3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100"/>
          <a:stretch>
            <a:fillRect/>
          </a:stretch>
        </p:blipFill>
        <p:spPr>
          <a:xfrm>
            <a:off x="5248862" y="2063531"/>
            <a:ext cx="4766090" cy="2655451"/>
          </a:xfrm>
          <a:prstGeom prst="rect">
            <a:avLst/>
          </a:prstGeom>
        </p:spPr>
      </p:pic>
      <p:pic>
        <p:nvPicPr>
          <p:cNvPr id="5" name="Picture 2" descr="Iata Logo PNG Vectors Free Download">
            <a:extLst>
              <a:ext uri="{FF2B5EF4-FFF2-40B4-BE49-F238E27FC236}">
                <a16:creationId xmlns:a16="http://schemas.microsoft.com/office/drawing/2014/main" id="{1669164F-07BC-BB3C-6104-368F1D0307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97341" y="-54430"/>
            <a:ext cx="762001" cy="762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4393019-FF76-C492-E165-F343C7C6E68C}"/>
              </a:ext>
            </a:extLst>
          </p:cNvPr>
          <p:cNvSpPr txBox="1"/>
          <p:nvPr/>
        </p:nvSpPr>
        <p:spPr>
          <a:xfrm>
            <a:off x="390208" y="225889"/>
            <a:ext cx="11007133" cy="80021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Montserrat" pitchFamily="2" charset="77"/>
                <a:ea typeface="Helvetica Neue" panose="02000503000000020004" pitchFamily="2" charset="0"/>
                <a:cs typeface="Segoe UI Semibold" panose="020B0702040204020203" pitchFamily="34" charset="0"/>
              </a:rPr>
              <a:t>Rapid SAF deployment is the factor that materially shifts aviation emissions toward EU climate alignment.</a:t>
            </a:r>
            <a:endParaRPr kumimoji="0" lang="en-US" sz="260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Montserrat" pitchFamily="2" charset="77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3DBB47-C9E8-E90A-B2CF-5334DE89D824}"/>
              </a:ext>
            </a:extLst>
          </p:cNvPr>
          <p:cNvSpPr txBox="1"/>
          <p:nvPr/>
        </p:nvSpPr>
        <p:spPr>
          <a:xfrm>
            <a:off x="390208" y="1060205"/>
            <a:ext cx="11253924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u="none" strike="noStrike" kern="0" cap="none" spc="0" normalizeH="0" baseline="0" noProof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Montserrat" pitchFamily="2" charset="77"/>
                <a:ea typeface="Helvetica Neue" panose="02000503000000020004" pitchFamily="2" charset="0"/>
                <a:cs typeface="Segoe UI Semibold" panose="020B0702040204020203" pitchFamily="34" charset="0"/>
              </a:rPr>
              <a:t>Fuel demand in the EU27 remains broadly stable through 2050, yet emissions diverge sharply across scenarios, proving that decarbonization depends mainly on the fuel mix rather than suppressed air travel.</a:t>
            </a:r>
            <a:endParaRPr kumimoji="0" lang="en-US" sz="1600" i="0" u="none" strike="noStrike" kern="0" cap="none" spc="0" normalizeH="0" baseline="0" noProof="0">
              <a:ln>
                <a:noFill/>
              </a:ln>
              <a:solidFill>
                <a:schemeClr val="accent3"/>
              </a:solidFill>
              <a:effectLst/>
              <a:uLnTx/>
              <a:uFillTx/>
              <a:latin typeface="Montserrat" pitchFamily="2" charset="77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63" name="Rounded Rectangle 62">
            <a:extLst>
              <a:ext uri="{FF2B5EF4-FFF2-40B4-BE49-F238E27FC236}">
                <a16:creationId xmlns:a16="http://schemas.microsoft.com/office/drawing/2014/main" id="{BCAC533B-8F65-1B85-A3B2-48BCFEB251C3}"/>
              </a:ext>
            </a:extLst>
          </p:cNvPr>
          <p:cNvSpPr/>
          <p:nvPr/>
        </p:nvSpPr>
        <p:spPr>
          <a:xfrm>
            <a:off x="10354093" y="2133449"/>
            <a:ext cx="1529914" cy="1368000"/>
          </a:xfrm>
          <a:prstGeom prst="roundRect">
            <a:avLst>
              <a:gd name="adj" fmla="val 5856"/>
            </a:avLst>
          </a:prstGeom>
          <a:solidFill>
            <a:schemeClr val="accent3">
              <a:lumMod val="50000"/>
            </a:schemeClr>
          </a:solidFill>
          <a:ln>
            <a:noFill/>
          </a:ln>
          <a:effectLst>
            <a:outerShdw blurRad="50800" dist="38100" dir="5400000" algn="t" rotWithShape="0">
              <a:schemeClr val="bg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0" rIns="144000" rtlCol="0" anchor="ctr"/>
          <a:lstStyle/>
          <a:p>
            <a:r>
              <a:rPr lang="en-US" sz="1150">
                <a:solidFill>
                  <a:schemeClr val="bg1"/>
                </a:solidFill>
                <a:latin typeface="Montserrat" pitchFamily="2" charset="77"/>
              </a:rPr>
              <a:t>Decarbonisation depends on </a:t>
            </a:r>
            <a:r>
              <a:rPr lang="en-US" sz="1150" b="1">
                <a:solidFill>
                  <a:schemeClr val="bg1"/>
                </a:solidFill>
                <a:latin typeface="Montserrat" pitchFamily="2" charset="77"/>
              </a:rPr>
              <a:t>fuel composition</a:t>
            </a:r>
            <a:r>
              <a:rPr lang="en-US" sz="1150">
                <a:solidFill>
                  <a:schemeClr val="bg1"/>
                </a:solidFill>
                <a:latin typeface="Montserrat" pitchFamily="2" charset="77"/>
              </a:rPr>
              <a:t>, not demand suppression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19B5801D-DD8D-804E-0909-C4D814136C44}"/>
              </a:ext>
            </a:extLst>
          </p:cNvPr>
          <p:cNvSpPr/>
          <p:nvPr/>
        </p:nvSpPr>
        <p:spPr>
          <a:xfrm>
            <a:off x="333666" y="4357366"/>
            <a:ext cx="4575331" cy="491375"/>
          </a:xfrm>
          <a:prstGeom prst="roundRect">
            <a:avLst>
              <a:gd name="adj" fmla="val 5856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schemeClr val="bg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200" b="1" dirty="0">
                <a:solidFill>
                  <a:schemeClr val="bg2"/>
                </a:solidFill>
                <a:latin typeface="Montserrat" pitchFamily="2" charset="77"/>
              </a:rPr>
              <a:t>Total fuel demand is predicted to remain stable</a:t>
            </a:r>
            <a:r>
              <a:rPr lang="en-CA" sz="1200" dirty="0">
                <a:solidFill>
                  <a:schemeClr val="bg2"/>
                </a:solidFill>
                <a:latin typeface="Montserrat" pitchFamily="2" charset="77"/>
              </a:rPr>
              <a:t> over the projection horizon, stabilizing around 44 Mt per year. </a:t>
            </a:r>
            <a:endParaRPr lang="en-US" sz="1200" dirty="0">
              <a:solidFill>
                <a:schemeClr val="bg2"/>
              </a:solidFill>
              <a:latin typeface="Montserrat" pitchFamily="2" charset="77"/>
            </a:endParaRP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C126CB34-4AAA-B930-256F-B4C0F8777886}"/>
              </a:ext>
            </a:extLst>
          </p:cNvPr>
          <p:cNvSpPr/>
          <p:nvPr/>
        </p:nvSpPr>
        <p:spPr>
          <a:xfrm>
            <a:off x="333665" y="1766541"/>
            <a:ext cx="4575332" cy="277482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dist="12700" dir="5400000" algn="t" rotWithShape="0">
              <a:schemeClr val="bg2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2"/>
                </a:solidFill>
                <a:latin typeface="Montserrat" pitchFamily="2" charset="77"/>
                <a:ea typeface="Helvetica Neue" panose="02000503000000020004" pitchFamily="2" charset="0"/>
                <a:cs typeface="Helvetica Neue" panose="02000503000000020004" pitchFamily="2" charset="0"/>
              </a:rPr>
              <a:t>Predicted fuel demand in EU27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6A4CC0E4-87BF-C8D9-C532-90F0E8363A66}"/>
              </a:ext>
            </a:extLst>
          </p:cNvPr>
          <p:cNvSpPr/>
          <p:nvPr/>
        </p:nvSpPr>
        <p:spPr>
          <a:xfrm>
            <a:off x="333666" y="5915991"/>
            <a:ext cx="4575332" cy="553813"/>
          </a:xfrm>
          <a:prstGeom prst="roundRect">
            <a:avLst>
              <a:gd name="adj" fmla="val 5856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>
            <a:outerShdw blurRad="50800" dist="38100" dir="5400000" algn="t" rotWithShape="0">
              <a:schemeClr val="bg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200">
                <a:solidFill>
                  <a:schemeClr val="bg2"/>
                </a:solidFill>
                <a:latin typeface="Montserrat" pitchFamily="2" charset="77"/>
              </a:rPr>
              <a:t>There is </a:t>
            </a:r>
            <a:r>
              <a:rPr lang="en-CA" sz="1200" b="1">
                <a:solidFill>
                  <a:schemeClr val="accent1"/>
                </a:solidFill>
                <a:latin typeface="Montserrat" pitchFamily="2" charset="77"/>
              </a:rPr>
              <a:t>limited scope </a:t>
            </a:r>
            <a:r>
              <a:rPr lang="en-CA" sz="1200">
                <a:solidFill>
                  <a:schemeClr val="bg2"/>
                </a:solidFill>
                <a:latin typeface="Montserrat" pitchFamily="2" charset="77"/>
              </a:rPr>
              <a:t>for deep decarbonisation through </a:t>
            </a:r>
            <a:r>
              <a:rPr lang="en-CA" sz="1200" b="1">
                <a:solidFill>
                  <a:schemeClr val="accent1"/>
                </a:solidFill>
                <a:latin typeface="Montserrat" pitchFamily="2" charset="77"/>
              </a:rPr>
              <a:t>demand reduction alone.</a:t>
            </a:r>
            <a:endParaRPr lang="en-US" sz="1200" b="1">
              <a:solidFill>
                <a:schemeClr val="accent1"/>
              </a:solidFill>
              <a:latin typeface="Montserrat" pitchFamily="2" charset="77"/>
            </a:endParaRPr>
          </a:p>
        </p:txBody>
      </p:sp>
      <p:pic>
        <p:nvPicPr>
          <p:cNvPr id="8196" name="Picture 4" descr="Air traffic ">
            <a:extLst>
              <a:ext uri="{FF2B5EF4-FFF2-40B4-BE49-F238E27FC236}">
                <a16:creationId xmlns:a16="http://schemas.microsoft.com/office/drawing/2014/main" id="{8B79E577-932A-8424-A1B7-B497B9A33B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503" y="4943449"/>
            <a:ext cx="459679" cy="4596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41A3517C-2D27-E75C-B646-75459CB25E86}"/>
              </a:ext>
            </a:extLst>
          </p:cNvPr>
          <p:cNvSpPr txBox="1"/>
          <p:nvPr/>
        </p:nvSpPr>
        <p:spPr>
          <a:xfrm>
            <a:off x="966182" y="5083917"/>
            <a:ext cx="13489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200">
                <a:solidFill>
                  <a:schemeClr val="bg2"/>
                </a:solidFill>
                <a:latin typeface="Montserrat" pitchFamily="2" charset="77"/>
              </a:rPr>
              <a:t>Increasing air traffic </a:t>
            </a:r>
            <a:endParaRPr lang="en-US" sz="120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4250FE8-F1C4-7B36-2DCF-3CF8D0250D93}"/>
              </a:ext>
            </a:extLst>
          </p:cNvPr>
          <p:cNvSpPr txBox="1"/>
          <p:nvPr/>
        </p:nvSpPr>
        <p:spPr>
          <a:xfrm>
            <a:off x="3071204" y="5083917"/>
            <a:ext cx="16903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200">
                <a:solidFill>
                  <a:schemeClr val="bg2"/>
                </a:solidFill>
                <a:latin typeface="Montserrat" pitchFamily="2" charset="77"/>
              </a:rPr>
              <a:t>Aircraft/operational efficiency</a:t>
            </a:r>
            <a:endParaRPr lang="en-US" sz="1200"/>
          </a:p>
        </p:txBody>
      </p:sp>
      <p:pic>
        <p:nvPicPr>
          <p:cNvPr id="8198" name="Picture 6" descr="Balance ">
            <a:extLst>
              <a:ext uri="{FF2B5EF4-FFF2-40B4-BE49-F238E27FC236}">
                <a16:creationId xmlns:a16="http://schemas.microsoft.com/office/drawing/2014/main" id="{BD7D638C-13C0-5F10-FA2A-411B5F965B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bg2">
                <a:shade val="45000"/>
                <a:satMod val="135000"/>
              </a:schemeClr>
              <a:prstClr val="white"/>
            </a:duotone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0403" y="4996183"/>
            <a:ext cx="637133" cy="6371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00" name="Picture 8" descr="Setting ">
            <a:extLst>
              <a:ext uri="{FF2B5EF4-FFF2-40B4-BE49-F238E27FC236}">
                <a16:creationId xmlns:a16="http://schemas.microsoft.com/office/drawing/2014/main" id="{B8CD3FB3-BDCF-7820-266A-786D987D03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4450490" y="5316328"/>
            <a:ext cx="458507" cy="4585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Triangle 27">
            <a:extLst>
              <a:ext uri="{FF2B5EF4-FFF2-40B4-BE49-F238E27FC236}">
                <a16:creationId xmlns:a16="http://schemas.microsoft.com/office/drawing/2014/main" id="{3F3AC3FD-58D0-1E3B-B34F-CFAD9B076CAE}"/>
              </a:ext>
            </a:extLst>
          </p:cNvPr>
          <p:cNvSpPr/>
          <p:nvPr/>
        </p:nvSpPr>
        <p:spPr>
          <a:xfrm rot="10800000">
            <a:off x="307993" y="4848742"/>
            <a:ext cx="4601007" cy="1071342"/>
          </a:xfrm>
          <a:prstGeom prst="triangle">
            <a:avLst/>
          </a:prstGeom>
          <a:gradFill>
            <a:gsLst>
              <a:gs pos="0">
                <a:schemeClr val="bg1">
                  <a:alpha val="42390"/>
                </a:schemeClr>
              </a:gs>
              <a:gs pos="100000">
                <a:schemeClr val="tx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CFFFEAFD-644A-9FA9-E7EF-3A0634630F3A}"/>
              </a:ext>
            </a:extLst>
          </p:cNvPr>
          <p:cNvCxnSpPr>
            <a:cxnSpLocks/>
          </p:cNvCxnSpPr>
          <p:nvPr/>
        </p:nvCxnSpPr>
        <p:spPr>
          <a:xfrm>
            <a:off x="5075677" y="2044023"/>
            <a:ext cx="0" cy="4425781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E94275FD-8F16-ED32-8BE2-22772417126B}"/>
              </a:ext>
            </a:extLst>
          </p:cNvPr>
          <p:cNvSpPr/>
          <p:nvPr/>
        </p:nvSpPr>
        <p:spPr>
          <a:xfrm>
            <a:off x="5211311" y="1766541"/>
            <a:ext cx="4840469" cy="277482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dist="12700" dir="5400000" algn="t" rotWithShape="0">
              <a:schemeClr val="bg2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2"/>
                </a:solidFill>
                <a:latin typeface="Montserrat" pitchFamily="2" charset="77"/>
                <a:ea typeface="Helvetica Neue" panose="02000503000000020004" pitchFamily="2" charset="0"/>
                <a:cs typeface="Helvetica Neue" panose="02000503000000020004" pitchFamily="2" charset="0"/>
              </a:rPr>
              <a:t>CO</a:t>
            </a:r>
            <a:r>
              <a:rPr lang="en-US" sz="1400" baseline="-25000" dirty="0">
                <a:solidFill>
                  <a:schemeClr val="bg2"/>
                </a:solidFill>
                <a:latin typeface="Montserrat" pitchFamily="2" charset="77"/>
                <a:ea typeface="Helvetica Neue" panose="02000503000000020004" pitchFamily="2" charset="0"/>
                <a:cs typeface="Helvetica Neue" panose="02000503000000020004" pitchFamily="2" charset="0"/>
              </a:rPr>
              <a:t>2</a:t>
            </a:r>
            <a:r>
              <a:rPr lang="en-US" sz="1400" dirty="0">
                <a:solidFill>
                  <a:schemeClr val="bg2"/>
                </a:solidFill>
                <a:latin typeface="Montserrat" pitchFamily="2" charset="77"/>
                <a:ea typeface="Helvetica Neue" panose="02000503000000020004" pitchFamily="2" charset="0"/>
                <a:cs typeface="Helvetica Neue" panose="02000503000000020004" pitchFamily="2" charset="0"/>
              </a:rPr>
              <a:t> emissions by scenario</a:t>
            </a:r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D38F767B-B8C1-5E00-9A16-000255A2DBDB}"/>
              </a:ext>
            </a:extLst>
          </p:cNvPr>
          <p:cNvSpPr/>
          <p:nvPr/>
        </p:nvSpPr>
        <p:spPr>
          <a:xfrm>
            <a:off x="5242742" y="5269450"/>
            <a:ext cx="2358234" cy="1200354"/>
          </a:xfrm>
          <a:prstGeom prst="roundRect">
            <a:avLst>
              <a:gd name="adj" fmla="val 5856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>
            <a:outerShdw blurRad="50800" dist="38100" dir="5400000" algn="t" rotWithShape="0">
              <a:schemeClr val="bg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200" b="1">
              <a:solidFill>
                <a:schemeClr val="bg2"/>
              </a:solidFill>
              <a:latin typeface="Montserrat" pitchFamily="2" charset="77"/>
            </a:endParaRPr>
          </a:p>
        </p:txBody>
      </p: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85674A0A-63CB-62FF-0693-6785820A0C40}"/>
              </a:ext>
            </a:extLst>
          </p:cNvPr>
          <p:cNvSpPr/>
          <p:nvPr/>
        </p:nvSpPr>
        <p:spPr>
          <a:xfrm>
            <a:off x="7724981" y="5269450"/>
            <a:ext cx="2358234" cy="1200354"/>
          </a:xfrm>
          <a:prstGeom prst="roundRect">
            <a:avLst>
              <a:gd name="adj" fmla="val 5856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>
            <a:outerShdw blurRad="50800" dist="38100" dir="5400000" algn="t" rotWithShape="0">
              <a:schemeClr val="bg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200" b="1">
              <a:solidFill>
                <a:schemeClr val="bg2"/>
              </a:solidFill>
              <a:latin typeface="Montserrat" pitchFamily="2" charset="7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8DAB2DA-D2B4-C374-BF28-7CD06EDCEB7A}"/>
              </a:ext>
            </a:extLst>
          </p:cNvPr>
          <p:cNvSpPr txBox="1"/>
          <p:nvPr/>
        </p:nvSpPr>
        <p:spPr>
          <a:xfrm>
            <a:off x="5211310" y="5284823"/>
            <a:ext cx="12249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200" b="1" dirty="0">
                <a:solidFill>
                  <a:schemeClr val="accent1"/>
                </a:solidFill>
                <a:latin typeface="Montserrat" pitchFamily="2" charset="77"/>
              </a:rPr>
              <a:t>S0 – Market </a:t>
            </a:r>
            <a:endParaRPr lang="en-US" sz="1200" b="1" dirty="0">
              <a:solidFill>
                <a:schemeClr val="accent1"/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DE6E2E2-2C0D-244B-2774-3FC344FFB851}"/>
              </a:ext>
            </a:extLst>
          </p:cNvPr>
          <p:cNvSpPr txBox="1"/>
          <p:nvPr/>
        </p:nvSpPr>
        <p:spPr>
          <a:xfrm>
            <a:off x="7724980" y="5284823"/>
            <a:ext cx="137329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200" b="1" dirty="0">
                <a:solidFill>
                  <a:schemeClr val="accent1"/>
                </a:solidFill>
                <a:latin typeface="Montserrat" pitchFamily="2" charset="77"/>
              </a:rPr>
              <a:t>S1 – Policy </a:t>
            </a:r>
            <a:endParaRPr lang="en-US" sz="1200" b="1" dirty="0">
              <a:solidFill>
                <a:schemeClr val="accent1"/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FD96A1D-10DC-102C-3CF5-C1D4824A9F4B}"/>
              </a:ext>
            </a:extLst>
          </p:cNvPr>
          <p:cNvSpPr txBox="1"/>
          <p:nvPr/>
        </p:nvSpPr>
        <p:spPr>
          <a:xfrm>
            <a:off x="5242354" y="5546566"/>
            <a:ext cx="235822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150">
                <a:solidFill>
                  <a:schemeClr val="bg2"/>
                </a:solidFill>
                <a:latin typeface="Montserrat" pitchFamily="2" charset="77"/>
              </a:rPr>
              <a:t>Voluntary SAF adoption </a:t>
            </a:r>
            <a:r>
              <a:rPr lang="en-CA" sz="1150" b="1">
                <a:solidFill>
                  <a:schemeClr val="accent1"/>
                </a:solidFill>
                <a:latin typeface="Montserrat" pitchFamily="2" charset="77"/>
              </a:rPr>
              <a:t>remains modest</a:t>
            </a:r>
            <a:endParaRPr lang="en-US" sz="1150" b="1">
              <a:solidFill>
                <a:schemeClr val="accent1"/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51E124D-7DAC-415D-28A6-A7C20BA63BC5}"/>
              </a:ext>
            </a:extLst>
          </p:cNvPr>
          <p:cNvSpPr txBox="1"/>
          <p:nvPr/>
        </p:nvSpPr>
        <p:spPr>
          <a:xfrm>
            <a:off x="5242354" y="5962064"/>
            <a:ext cx="24826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150">
                <a:solidFill>
                  <a:schemeClr val="bg2"/>
                </a:solidFill>
                <a:latin typeface="Montserrat" pitchFamily="2" charset="77"/>
              </a:rPr>
              <a:t>Emissions fall slightly in the early years and then stabilise</a:t>
            </a:r>
            <a:endParaRPr lang="en-US" sz="115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5EF0D58F-843F-184C-8960-D384F65E41F8}"/>
              </a:ext>
            </a:extLst>
          </p:cNvPr>
          <p:cNvSpPr/>
          <p:nvPr/>
        </p:nvSpPr>
        <p:spPr>
          <a:xfrm>
            <a:off x="5240213" y="5619239"/>
            <a:ext cx="45719" cy="32128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1FC7280C-70CA-3419-2FFD-4E5F36FC6B09}"/>
              </a:ext>
            </a:extLst>
          </p:cNvPr>
          <p:cNvSpPr/>
          <p:nvPr/>
        </p:nvSpPr>
        <p:spPr>
          <a:xfrm>
            <a:off x="5240213" y="6044853"/>
            <a:ext cx="45719" cy="32128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8FA9ED6-0664-FF43-F4E6-AE7EAA5F8BD7}"/>
              </a:ext>
            </a:extLst>
          </p:cNvPr>
          <p:cNvSpPr txBox="1"/>
          <p:nvPr/>
        </p:nvSpPr>
        <p:spPr>
          <a:xfrm>
            <a:off x="7707139" y="5546566"/>
            <a:ext cx="2491682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150">
                <a:solidFill>
                  <a:schemeClr val="bg2"/>
                </a:solidFill>
                <a:latin typeface="Montserrat" pitchFamily="2" charset="77"/>
              </a:rPr>
              <a:t>As SAF shares follow the ReFuelEU trajectory, emissions decrease steeply, </a:t>
            </a:r>
            <a:r>
              <a:rPr lang="en-CA" sz="1150" b="1">
                <a:solidFill>
                  <a:schemeClr val="accent1"/>
                </a:solidFill>
                <a:latin typeface="Montserrat" pitchFamily="2" charset="77"/>
              </a:rPr>
              <a:t>avoiding 1.8 tonnes more than S0</a:t>
            </a:r>
            <a:endParaRPr lang="en-US" sz="1150" b="1">
              <a:solidFill>
                <a:schemeClr val="accent1"/>
              </a:solidFill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4AEAFCB4-B3D0-9CD1-24C8-CDC488A414E2}"/>
              </a:ext>
            </a:extLst>
          </p:cNvPr>
          <p:cNvSpPr/>
          <p:nvPr/>
        </p:nvSpPr>
        <p:spPr>
          <a:xfrm>
            <a:off x="7725852" y="5623257"/>
            <a:ext cx="45719" cy="68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40F6C8CF-286A-6C54-ECA7-8E91965A9254}"/>
              </a:ext>
            </a:extLst>
          </p:cNvPr>
          <p:cNvCxnSpPr>
            <a:cxnSpLocks/>
          </p:cNvCxnSpPr>
          <p:nvPr/>
        </p:nvCxnSpPr>
        <p:spPr>
          <a:xfrm>
            <a:off x="10221399" y="2044023"/>
            <a:ext cx="0" cy="4425781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0" name="Rounded Rectangle 59">
            <a:extLst>
              <a:ext uri="{FF2B5EF4-FFF2-40B4-BE49-F238E27FC236}">
                <a16:creationId xmlns:a16="http://schemas.microsoft.com/office/drawing/2014/main" id="{7962AF0B-95C1-93FD-6388-3B2F8ECC1B73}"/>
              </a:ext>
            </a:extLst>
          </p:cNvPr>
          <p:cNvSpPr/>
          <p:nvPr/>
        </p:nvSpPr>
        <p:spPr>
          <a:xfrm>
            <a:off x="10354094" y="1766541"/>
            <a:ext cx="1529912" cy="277482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dist="12700" dir="5400000" algn="t" rotWithShape="0">
              <a:schemeClr val="bg2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bg2"/>
                </a:solidFill>
                <a:latin typeface="Montserrat" pitchFamily="2" charset="77"/>
                <a:ea typeface="Helvetica Neue" panose="02000503000000020004" pitchFamily="2" charset="0"/>
                <a:cs typeface="Helvetica Neue" panose="02000503000000020004" pitchFamily="2" charset="0"/>
              </a:rPr>
              <a:t>Insights</a:t>
            </a:r>
          </a:p>
        </p:txBody>
      </p:sp>
      <p:sp>
        <p:nvSpPr>
          <p:cNvPr id="61" name="Rounded Rectangle 60">
            <a:extLst>
              <a:ext uri="{FF2B5EF4-FFF2-40B4-BE49-F238E27FC236}">
                <a16:creationId xmlns:a16="http://schemas.microsoft.com/office/drawing/2014/main" id="{F9A943D1-30B8-5D3C-6D35-E726904F2924}"/>
              </a:ext>
            </a:extLst>
          </p:cNvPr>
          <p:cNvSpPr/>
          <p:nvPr/>
        </p:nvSpPr>
        <p:spPr>
          <a:xfrm>
            <a:off x="11584581" y="2126029"/>
            <a:ext cx="299425" cy="282222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latin typeface="Montserrat" pitchFamily="2" charset="77"/>
              </a:rPr>
              <a:t>1</a:t>
            </a:r>
          </a:p>
        </p:txBody>
      </p:sp>
      <p:sp>
        <p:nvSpPr>
          <p:cNvPr id="8192" name="Rounded Rectangle 8191">
            <a:extLst>
              <a:ext uri="{FF2B5EF4-FFF2-40B4-BE49-F238E27FC236}">
                <a16:creationId xmlns:a16="http://schemas.microsoft.com/office/drawing/2014/main" id="{B1D58348-5AB1-E4DC-E69A-714F5193F5BA}"/>
              </a:ext>
            </a:extLst>
          </p:cNvPr>
          <p:cNvSpPr/>
          <p:nvPr/>
        </p:nvSpPr>
        <p:spPr>
          <a:xfrm>
            <a:off x="10354093" y="3615818"/>
            <a:ext cx="1529914" cy="1368000"/>
          </a:xfrm>
          <a:prstGeom prst="roundRect">
            <a:avLst>
              <a:gd name="adj" fmla="val 5856"/>
            </a:avLst>
          </a:prstGeom>
          <a:solidFill>
            <a:schemeClr val="accent3">
              <a:lumMod val="50000"/>
            </a:schemeClr>
          </a:solidFill>
          <a:ln>
            <a:noFill/>
          </a:ln>
          <a:effectLst>
            <a:outerShdw blurRad="50800" dist="38100" dir="5400000" algn="t" rotWithShape="0">
              <a:schemeClr val="bg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0" rIns="144000" rtlCol="0" anchor="ctr"/>
          <a:lstStyle/>
          <a:p>
            <a:r>
              <a:rPr lang="en-US" sz="1150">
                <a:solidFill>
                  <a:schemeClr val="bg1"/>
                </a:solidFill>
                <a:latin typeface="Montserrat" pitchFamily="2" charset="77"/>
              </a:rPr>
              <a:t>ReFuelEU-aligned SAF deployment delivers </a:t>
            </a:r>
            <a:r>
              <a:rPr lang="en-US" sz="1150" b="1">
                <a:solidFill>
                  <a:schemeClr val="bg1"/>
                </a:solidFill>
                <a:latin typeface="Montserrat" pitchFamily="2" charset="77"/>
              </a:rPr>
              <a:t>deep, sustained cuts.</a:t>
            </a:r>
          </a:p>
        </p:txBody>
      </p:sp>
      <p:sp>
        <p:nvSpPr>
          <p:cNvPr id="8193" name="Rounded Rectangle 8192">
            <a:extLst>
              <a:ext uri="{FF2B5EF4-FFF2-40B4-BE49-F238E27FC236}">
                <a16:creationId xmlns:a16="http://schemas.microsoft.com/office/drawing/2014/main" id="{2FAE9314-3830-37AD-A528-C81285FF20F4}"/>
              </a:ext>
            </a:extLst>
          </p:cNvPr>
          <p:cNvSpPr/>
          <p:nvPr/>
        </p:nvSpPr>
        <p:spPr>
          <a:xfrm>
            <a:off x="11584581" y="3610250"/>
            <a:ext cx="299425" cy="282222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latin typeface="Montserrat" pitchFamily="2" charset="77"/>
              </a:rPr>
              <a:t>2</a:t>
            </a:r>
          </a:p>
        </p:txBody>
      </p:sp>
      <p:sp>
        <p:nvSpPr>
          <p:cNvPr id="8195" name="Rounded Rectangle 8194">
            <a:extLst>
              <a:ext uri="{FF2B5EF4-FFF2-40B4-BE49-F238E27FC236}">
                <a16:creationId xmlns:a16="http://schemas.microsoft.com/office/drawing/2014/main" id="{C5DF3838-BA35-039C-1C37-35C9A3997E54}"/>
              </a:ext>
            </a:extLst>
          </p:cNvPr>
          <p:cNvSpPr/>
          <p:nvPr/>
        </p:nvSpPr>
        <p:spPr>
          <a:xfrm>
            <a:off x="10354093" y="5098187"/>
            <a:ext cx="1529914" cy="1368000"/>
          </a:xfrm>
          <a:prstGeom prst="roundRect">
            <a:avLst>
              <a:gd name="adj" fmla="val 5856"/>
            </a:avLst>
          </a:prstGeom>
          <a:solidFill>
            <a:schemeClr val="accent3">
              <a:lumMod val="50000"/>
            </a:schemeClr>
          </a:solidFill>
          <a:ln>
            <a:noFill/>
          </a:ln>
          <a:effectLst>
            <a:outerShdw blurRad="50800" dist="38100" dir="5400000" algn="t" rotWithShape="0">
              <a:schemeClr val="bg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0" rIns="144000" rtlCol="0" anchor="ctr"/>
          <a:lstStyle/>
          <a:p>
            <a:r>
              <a:rPr lang="en-US" sz="1150" b="1">
                <a:solidFill>
                  <a:schemeClr val="bg1"/>
                </a:solidFill>
                <a:latin typeface="Montserrat" pitchFamily="2" charset="77"/>
              </a:rPr>
              <a:t>Timing matters. </a:t>
            </a:r>
            <a:r>
              <a:rPr lang="en-US" sz="1150">
                <a:solidFill>
                  <a:schemeClr val="bg1"/>
                </a:solidFill>
                <a:latin typeface="Montserrat" pitchFamily="2" charset="77"/>
              </a:rPr>
              <a:t>Early deployment compounds over time.</a:t>
            </a:r>
          </a:p>
        </p:txBody>
      </p:sp>
      <p:sp>
        <p:nvSpPr>
          <p:cNvPr id="8199" name="Rounded Rectangle 8198">
            <a:extLst>
              <a:ext uri="{FF2B5EF4-FFF2-40B4-BE49-F238E27FC236}">
                <a16:creationId xmlns:a16="http://schemas.microsoft.com/office/drawing/2014/main" id="{43A24FFC-D2D3-0B22-5E10-506C0BCB1FA8}"/>
              </a:ext>
            </a:extLst>
          </p:cNvPr>
          <p:cNvSpPr/>
          <p:nvPr/>
        </p:nvSpPr>
        <p:spPr>
          <a:xfrm>
            <a:off x="11584581" y="5098187"/>
            <a:ext cx="299425" cy="282222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latin typeface="Montserrat" pitchFamily="2" charset="77"/>
              </a:rPr>
              <a:t>3</a:t>
            </a:r>
          </a:p>
        </p:txBody>
      </p:sp>
      <p:pic>
        <p:nvPicPr>
          <p:cNvPr id="8202" name="Picture 10" descr="Clock ">
            <a:extLst>
              <a:ext uri="{FF2B5EF4-FFF2-40B4-BE49-F238E27FC236}">
                <a16:creationId xmlns:a16="http://schemas.microsoft.com/office/drawing/2014/main" id="{745598AD-7C74-812C-587F-3483CD3021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alphaModFix amt="20000"/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4661" y="5342723"/>
            <a:ext cx="921783" cy="9217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04" name="Picture 12" descr="Scissors ">
            <a:extLst>
              <a:ext uri="{FF2B5EF4-FFF2-40B4-BE49-F238E27FC236}">
                <a16:creationId xmlns:a16="http://schemas.microsoft.com/office/drawing/2014/main" id="{14081713-306D-2F63-F802-6DECA3A019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alphaModFix amt="20000"/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86974" y="3712984"/>
            <a:ext cx="1057157" cy="10571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06" name="Picture 14" descr="Fuel ">
            <a:extLst>
              <a:ext uri="{FF2B5EF4-FFF2-40B4-BE49-F238E27FC236}">
                <a16:creationId xmlns:a16="http://schemas.microsoft.com/office/drawing/2014/main" id="{9B69C16E-B23C-376D-E0DD-C3B2C2C507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alphaModFix amt="20000"/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04844" y="2383574"/>
            <a:ext cx="821417" cy="8214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1F8E3C3-B03E-5FE9-82D8-391ED03EE9A5}"/>
              </a:ext>
            </a:extLst>
          </p:cNvPr>
          <p:cNvSpPr/>
          <p:nvPr/>
        </p:nvSpPr>
        <p:spPr>
          <a:xfrm>
            <a:off x="0" y="6705690"/>
            <a:ext cx="12192000" cy="180000"/>
          </a:xfrm>
          <a:prstGeom prst="rect">
            <a:avLst/>
          </a:prstGeom>
          <a:solidFill>
            <a:schemeClr val="accent3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accent3"/>
              </a:solidFill>
              <a:effectLst/>
              <a:uLnTx/>
              <a:uFillTx/>
              <a:latin typeface="Montserrat" pitchFamily="2" charset="77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77408C1-900B-C925-4C79-4085F030524D}"/>
              </a:ext>
            </a:extLst>
          </p:cNvPr>
          <p:cNvSpPr/>
          <p:nvPr/>
        </p:nvSpPr>
        <p:spPr>
          <a:xfrm>
            <a:off x="4156319" y="6669315"/>
            <a:ext cx="916029" cy="21434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rtlCol="0" anchor="ctr"/>
          <a:lstStyle/>
          <a:p>
            <a:pPr algn="ctr"/>
            <a:r>
              <a:rPr lang="en-CA" sz="900" b="1" kern="0">
                <a:solidFill>
                  <a:schemeClr val="accent3"/>
                </a:solidFill>
                <a:latin typeface="Montserrat" pitchFamily="2" charset="77"/>
              </a:rPr>
              <a:t>Emissions</a:t>
            </a:r>
            <a:endParaRPr lang="en-US" sz="900" b="1" kern="0">
              <a:solidFill>
                <a:schemeClr val="accent3"/>
              </a:solidFill>
              <a:latin typeface="Montserrat" pitchFamily="2" charset="77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3B42419-4246-238C-2355-42B6C8C23E8A}"/>
              </a:ext>
            </a:extLst>
          </p:cNvPr>
          <p:cNvSpPr/>
          <p:nvPr/>
        </p:nvSpPr>
        <p:spPr>
          <a:xfrm>
            <a:off x="5370924" y="6669315"/>
            <a:ext cx="916029" cy="21434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rtlCol="0" anchor="ctr"/>
          <a:lstStyle/>
          <a:p>
            <a:pPr algn="ctr"/>
            <a:r>
              <a:rPr lang="en-CA" sz="900" kern="0">
                <a:solidFill>
                  <a:schemeClr val="accent3">
                    <a:lumMod val="60000"/>
                    <a:lumOff val="40000"/>
                  </a:schemeClr>
                </a:solidFill>
                <a:latin typeface="Montserrat" pitchFamily="2" charset="77"/>
              </a:rPr>
              <a:t>Costs</a:t>
            </a:r>
            <a:endParaRPr lang="en-US" sz="900" kern="0">
              <a:solidFill>
                <a:schemeClr val="accent3">
                  <a:lumMod val="60000"/>
                  <a:lumOff val="40000"/>
                </a:schemeClr>
              </a:solidFill>
              <a:latin typeface="Montserrat" pitchFamily="2" charset="77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CFB4C25-D702-18DD-CA1F-A2E1E89779C1}"/>
              </a:ext>
            </a:extLst>
          </p:cNvPr>
          <p:cNvSpPr/>
          <p:nvPr/>
        </p:nvSpPr>
        <p:spPr>
          <a:xfrm>
            <a:off x="6585530" y="6669315"/>
            <a:ext cx="1450152" cy="21434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rtlCol="0" anchor="ctr"/>
          <a:lstStyle/>
          <a:p>
            <a:pPr algn="ctr"/>
            <a:r>
              <a:rPr lang="en-CA" sz="900" kern="0">
                <a:solidFill>
                  <a:schemeClr val="accent3">
                    <a:lumMod val="60000"/>
                    <a:lumOff val="40000"/>
                  </a:schemeClr>
                </a:solidFill>
                <a:latin typeface="Montserrat" pitchFamily="2" charset="77"/>
              </a:rPr>
              <a:t>Policy</a:t>
            </a:r>
            <a:r>
              <a:rPr lang="en-CA" sz="900" b="1" kern="0">
                <a:solidFill>
                  <a:schemeClr val="accent3"/>
                </a:solidFill>
                <a:latin typeface="Montserrat" pitchFamily="2" charset="77"/>
              </a:rPr>
              <a:t> </a:t>
            </a:r>
            <a:r>
              <a:rPr lang="en-CA" sz="900" kern="0">
                <a:solidFill>
                  <a:schemeClr val="accent3">
                    <a:lumMod val="60000"/>
                    <a:lumOff val="40000"/>
                  </a:schemeClr>
                </a:solidFill>
                <a:latin typeface="Montserrat" pitchFamily="2" charset="77"/>
              </a:rPr>
              <a:t>Implications</a:t>
            </a:r>
            <a:endParaRPr lang="en-US" sz="900" kern="0">
              <a:solidFill>
                <a:schemeClr val="accent3">
                  <a:lumMod val="60000"/>
                  <a:lumOff val="40000"/>
                </a:schemeClr>
              </a:solidFill>
              <a:latin typeface="Montserrat" pitchFamily="2" charset="77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A1B45DC-D48D-61D9-58F5-D9B31E949F33}"/>
              </a:ext>
            </a:extLst>
          </p:cNvPr>
          <p:cNvCxnSpPr>
            <a:cxnSpLocks/>
          </p:cNvCxnSpPr>
          <p:nvPr/>
        </p:nvCxnSpPr>
        <p:spPr>
          <a:xfrm>
            <a:off x="5221636" y="6704487"/>
            <a:ext cx="0" cy="144000"/>
          </a:xfrm>
          <a:prstGeom prst="line">
            <a:avLst/>
          </a:prstGeom>
          <a:ln w="12700"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3F4DE26-755A-1BC7-DEF1-67E95529302B}"/>
              </a:ext>
            </a:extLst>
          </p:cNvPr>
          <p:cNvCxnSpPr>
            <a:cxnSpLocks/>
          </p:cNvCxnSpPr>
          <p:nvPr/>
        </p:nvCxnSpPr>
        <p:spPr>
          <a:xfrm>
            <a:off x="6436241" y="6704487"/>
            <a:ext cx="0" cy="144000"/>
          </a:xfrm>
          <a:prstGeom prst="line">
            <a:avLst/>
          </a:prstGeom>
          <a:ln w="12700"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CB296E48-309E-6974-6927-3F91D2D8501D}"/>
              </a:ext>
            </a:extLst>
          </p:cNvPr>
          <p:cNvSpPr/>
          <p:nvPr/>
        </p:nvSpPr>
        <p:spPr>
          <a:xfrm>
            <a:off x="5242741" y="4672153"/>
            <a:ext cx="4840474" cy="492443"/>
          </a:xfrm>
          <a:prstGeom prst="roundRect">
            <a:avLst>
              <a:gd name="adj" fmla="val 5856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schemeClr val="bg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200" dirty="0">
                <a:solidFill>
                  <a:schemeClr val="bg2"/>
                </a:solidFill>
                <a:latin typeface="Montserrat" pitchFamily="2" charset="77"/>
              </a:rPr>
              <a:t>Emissions trajectories, however, </a:t>
            </a:r>
            <a:r>
              <a:rPr lang="en-CA" sz="1200" b="1" dirty="0">
                <a:solidFill>
                  <a:schemeClr val="bg2"/>
                </a:solidFill>
                <a:latin typeface="Montserrat" pitchFamily="2" charset="77"/>
              </a:rPr>
              <a:t>diverge sharply </a:t>
            </a:r>
            <a:r>
              <a:rPr lang="en-CA" sz="1200" dirty="0">
                <a:solidFill>
                  <a:schemeClr val="bg2"/>
                </a:solidFill>
                <a:latin typeface="Montserrat" pitchFamily="2" charset="77"/>
              </a:rPr>
              <a:t>once SAF deployment begins to </a:t>
            </a:r>
            <a:r>
              <a:rPr lang="en-CA" sz="1200" b="1" dirty="0">
                <a:solidFill>
                  <a:schemeClr val="bg2"/>
                </a:solidFill>
                <a:latin typeface="Montserrat" pitchFamily="2" charset="77"/>
              </a:rPr>
              <a:t>accelerate</a:t>
            </a:r>
            <a:endParaRPr lang="en-US" sz="1200" b="1" dirty="0">
              <a:solidFill>
                <a:schemeClr val="bg2"/>
              </a:solidFill>
              <a:latin typeface="Montserrat" pitchFamily="2" charset="7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5377B52-974B-770B-F62E-4D36C226D393}"/>
              </a:ext>
            </a:extLst>
          </p:cNvPr>
          <p:cNvSpPr txBox="1"/>
          <p:nvPr/>
        </p:nvSpPr>
        <p:spPr>
          <a:xfrm>
            <a:off x="11973262" y="6680073"/>
            <a:ext cx="22949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900" dirty="0">
                <a:solidFill>
                  <a:schemeClr val="accent3">
                    <a:lumMod val="50000"/>
                  </a:schemeClr>
                </a:solidFill>
                <a:latin typeface="Montserrat" pitchFamily="2" charset="77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2746757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9421C7-115C-2A5C-45EC-1D9F90BCE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7E62F178-B34E-C36A-B2F3-A5971F4EE402}"/>
              </a:ext>
            </a:extLst>
          </p:cNvPr>
          <p:cNvSpPr/>
          <p:nvPr/>
        </p:nvSpPr>
        <p:spPr>
          <a:xfrm>
            <a:off x="333667" y="1905282"/>
            <a:ext cx="2231113" cy="1016983"/>
          </a:xfrm>
          <a:prstGeom prst="roundRect">
            <a:avLst>
              <a:gd name="adj" fmla="val 5856"/>
            </a:avLst>
          </a:prstGeom>
          <a:solidFill>
            <a:schemeClr val="accent1">
              <a:lumMod val="20000"/>
              <a:lumOff val="80000"/>
              <a:alpha val="19041"/>
            </a:schemeClr>
          </a:solidFill>
          <a:ln>
            <a:noFill/>
          </a:ln>
          <a:effectLst>
            <a:outerShdw blurRad="50800" dist="38100" dir="5400000" algn="t" rotWithShape="0">
              <a:schemeClr val="bg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200">
              <a:solidFill>
                <a:schemeClr val="bg2"/>
              </a:solidFill>
              <a:latin typeface="Montserrat" pitchFamily="2" charset="77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97310A48-B67D-9DE1-0CEE-723467C902FC}"/>
              </a:ext>
            </a:extLst>
          </p:cNvPr>
          <p:cNvSpPr/>
          <p:nvPr/>
        </p:nvSpPr>
        <p:spPr>
          <a:xfrm>
            <a:off x="2677884" y="1905282"/>
            <a:ext cx="2231113" cy="1016983"/>
          </a:xfrm>
          <a:prstGeom prst="roundRect">
            <a:avLst>
              <a:gd name="adj" fmla="val 5856"/>
            </a:avLst>
          </a:prstGeom>
          <a:solidFill>
            <a:schemeClr val="accent3">
              <a:lumMod val="20000"/>
              <a:lumOff val="80000"/>
              <a:alpha val="19041"/>
            </a:schemeClr>
          </a:solidFill>
          <a:ln>
            <a:noFill/>
          </a:ln>
          <a:effectLst>
            <a:outerShdw blurRad="50800" dist="38100" dir="5400000" algn="t" rotWithShape="0">
              <a:schemeClr val="bg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200">
              <a:solidFill>
                <a:schemeClr val="bg2"/>
              </a:solidFill>
              <a:latin typeface="Montserrat" pitchFamily="2" charset="77"/>
            </a:endParaRPr>
          </a:p>
        </p:txBody>
      </p:sp>
      <p:pic>
        <p:nvPicPr>
          <p:cNvPr id="5" name="Picture 2" descr="Iata Logo PNG Vectors Free Download">
            <a:extLst>
              <a:ext uri="{FF2B5EF4-FFF2-40B4-BE49-F238E27FC236}">
                <a16:creationId xmlns:a16="http://schemas.microsoft.com/office/drawing/2014/main" id="{67770FAE-4B40-ED1D-4D33-E83C810510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97341" y="-54430"/>
            <a:ext cx="762001" cy="762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3CEF92E-4BFF-15CB-D5D0-CC98A9DB8E23}"/>
              </a:ext>
            </a:extLst>
          </p:cNvPr>
          <p:cNvSpPr txBox="1"/>
          <p:nvPr/>
        </p:nvSpPr>
        <p:spPr>
          <a:xfrm>
            <a:off x="390208" y="225889"/>
            <a:ext cx="11007133" cy="80021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Montserrat" pitchFamily="2" charset="77"/>
                <a:ea typeface="Helvetica Neue" panose="02000503000000020004" pitchFamily="2" charset="0"/>
                <a:cs typeface="Segoe UI Semibold" panose="020B0702040204020203" pitchFamily="34" charset="0"/>
              </a:rPr>
              <a:t>While SAF raises near-term costs, it becomes economically rational once penalties, and long-term risk are accounted for.</a:t>
            </a:r>
            <a:endParaRPr kumimoji="0" lang="en-US" sz="260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Montserrat" pitchFamily="2" charset="77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1572C5-4507-E075-3AA1-D055E65F63C6}"/>
              </a:ext>
            </a:extLst>
          </p:cNvPr>
          <p:cNvSpPr txBox="1"/>
          <p:nvPr/>
        </p:nvSpPr>
        <p:spPr>
          <a:xfrm>
            <a:off x="390208" y="1060205"/>
            <a:ext cx="11253924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u="none" strike="noStrike" kern="0" cap="none" spc="0" normalizeH="0" baseline="0" noProof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Montserrat" pitchFamily="2" charset="77"/>
                <a:ea typeface="Helvetica Neue" panose="02000503000000020004" pitchFamily="2" charset="0"/>
                <a:cs typeface="Segoe UI Semibold" panose="020B0702040204020203" pitchFamily="34" charset="0"/>
              </a:rPr>
              <a:t>Higher SAF prices are offset by falling fossil competitiveness under rising ETS carbon prices, mandatory blending requirements, and fines that make non-compliance more expensive than compliance.</a:t>
            </a:r>
            <a:endParaRPr kumimoji="0" lang="en-US" sz="1600" i="0" u="none" strike="noStrike" kern="0" cap="none" spc="0" normalizeH="0" baseline="0" noProof="0">
              <a:ln>
                <a:noFill/>
              </a:ln>
              <a:solidFill>
                <a:schemeClr val="accent3"/>
              </a:solidFill>
              <a:effectLst/>
              <a:uLnTx/>
              <a:uFillTx/>
              <a:latin typeface="Montserrat" pitchFamily="2" charset="77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8F2B0A81-4D49-195C-739B-7F8E0E0C65B8}"/>
              </a:ext>
            </a:extLst>
          </p:cNvPr>
          <p:cNvSpPr/>
          <p:nvPr/>
        </p:nvSpPr>
        <p:spPr>
          <a:xfrm>
            <a:off x="333665" y="1766541"/>
            <a:ext cx="4575332" cy="277482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dist="12700" dir="5400000" algn="t" rotWithShape="0">
              <a:schemeClr val="bg2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bg2"/>
                </a:solidFill>
                <a:latin typeface="Montserrat" pitchFamily="2" charset="77"/>
                <a:ea typeface="Helvetica Neue" panose="02000503000000020004" pitchFamily="2" charset="0"/>
                <a:cs typeface="Helvetica Neue" panose="02000503000000020004" pitchFamily="2" charset="0"/>
              </a:rPr>
              <a:t>Current Price Benchmarks</a:t>
            </a:r>
          </a:p>
        </p:txBody>
      </p:sp>
      <p:sp>
        <p:nvSpPr>
          <p:cNvPr id="8203" name="TextBox 8202">
            <a:extLst>
              <a:ext uri="{FF2B5EF4-FFF2-40B4-BE49-F238E27FC236}">
                <a16:creationId xmlns:a16="http://schemas.microsoft.com/office/drawing/2014/main" id="{07442AEF-1C7B-C568-C45D-B14815F3CF99}"/>
              </a:ext>
            </a:extLst>
          </p:cNvPr>
          <p:cNvSpPr txBox="1"/>
          <p:nvPr/>
        </p:nvSpPr>
        <p:spPr>
          <a:xfrm>
            <a:off x="5153148" y="2108236"/>
            <a:ext cx="670518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200">
                <a:solidFill>
                  <a:schemeClr val="bg2"/>
                </a:solidFill>
                <a:latin typeface="Montserrat" pitchFamily="2" charset="77"/>
              </a:rPr>
              <a:t>In the early years of the transition, higher 3 SAF blends translate into higher operating expenditure for airlines, particularly under Scenario 1.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5FC73643-BE6E-1FD8-90D7-886DBB4684ED}"/>
              </a:ext>
            </a:extLst>
          </p:cNvPr>
          <p:cNvSpPr/>
          <p:nvPr/>
        </p:nvSpPr>
        <p:spPr>
          <a:xfrm>
            <a:off x="333665" y="2983391"/>
            <a:ext cx="4575332" cy="277482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dist="12700" dir="5400000" algn="t" rotWithShape="0">
              <a:schemeClr val="bg2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bg2"/>
                </a:solidFill>
                <a:latin typeface="Montserrat" pitchFamily="2" charset="77"/>
                <a:ea typeface="Helvetica Neue" panose="02000503000000020004" pitchFamily="2" charset="0"/>
                <a:cs typeface="Helvetica Neue" panose="02000503000000020004" pitchFamily="2" charset="0"/>
              </a:rPr>
              <a:t>Predicted Total Costs Across Scenarios</a:t>
            </a:r>
          </a:p>
        </p:txBody>
      </p:sp>
      <p:pic>
        <p:nvPicPr>
          <p:cNvPr id="1028" name="Picture 4" descr="Fuel ">
            <a:extLst>
              <a:ext uri="{FF2B5EF4-FFF2-40B4-BE49-F238E27FC236}">
                <a16:creationId xmlns:a16="http://schemas.microsoft.com/office/drawing/2014/main" id="{3DA5B4F5-3BF2-7F9F-179D-C080435BDC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530" y="2203750"/>
            <a:ext cx="572778" cy="5727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Biofuel barrel ">
            <a:extLst>
              <a:ext uri="{FF2B5EF4-FFF2-40B4-BE49-F238E27FC236}">
                <a16:creationId xmlns:a16="http://schemas.microsoft.com/office/drawing/2014/main" id="{2218658A-A7D0-E2C5-E80E-DB670B4557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7092" y="2203750"/>
            <a:ext cx="572779" cy="5727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B18B3FD-207C-2755-4595-A4170028B82C}"/>
              </a:ext>
            </a:extLst>
          </p:cNvPr>
          <p:cNvSpPr txBox="1"/>
          <p:nvPr/>
        </p:nvSpPr>
        <p:spPr>
          <a:xfrm>
            <a:off x="3291870" y="2259307"/>
            <a:ext cx="152545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200">
                <a:latin typeface="Montserrat" pitchFamily="2" charset="77"/>
              </a:rPr>
              <a:t>bio-SAF </a:t>
            </a:r>
            <a:r>
              <a:rPr lang="en-CA" sz="1200">
                <a:solidFill>
                  <a:schemeClr val="bg2"/>
                </a:solidFill>
                <a:latin typeface="Montserrat" pitchFamily="2" charset="77"/>
              </a:rPr>
              <a:t>≈</a:t>
            </a:r>
            <a:r>
              <a:rPr lang="en-CA" sz="1200" b="1">
                <a:solidFill>
                  <a:schemeClr val="accent1"/>
                </a:solidFill>
                <a:latin typeface="Montserrat" pitchFamily="2" charset="77"/>
              </a:rPr>
              <a:t> </a:t>
            </a:r>
            <a:r>
              <a:rPr lang="en-CA" sz="1200" b="1">
                <a:solidFill>
                  <a:schemeClr val="accent3"/>
                </a:solidFill>
                <a:latin typeface="Montserrat" pitchFamily="2" charset="77"/>
              </a:rPr>
              <a:t>€2,085 </a:t>
            </a:r>
            <a:r>
              <a:rPr lang="en-CA" sz="1200">
                <a:latin typeface="Montserrat" pitchFamily="2" charset="77"/>
              </a:rPr>
              <a:t>per tonne</a:t>
            </a:r>
            <a:endParaRPr lang="en-US" sz="1200">
              <a:latin typeface="Montserrat" pitchFamily="2" charset="7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2549E76-2501-EE21-5A34-8C3FF822369A}"/>
              </a:ext>
            </a:extLst>
          </p:cNvPr>
          <p:cNvSpPr txBox="1"/>
          <p:nvPr/>
        </p:nvSpPr>
        <p:spPr>
          <a:xfrm>
            <a:off x="923925" y="2259307"/>
            <a:ext cx="152545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200">
                <a:latin typeface="Montserrat" pitchFamily="2" charset="77"/>
              </a:rPr>
              <a:t>Jet A </a:t>
            </a:r>
            <a:r>
              <a:rPr lang="en-CA" sz="1200">
                <a:solidFill>
                  <a:schemeClr val="bg2"/>
                </a:solidFill>
                <a:latin typeface="Montserrat" pitchFamily="2" charset="77"/>
              </a:rPr>
              <a:t>≈</a:t>
            </a:r>
            <a:r>
              <a:rPr lang="en-CA" sz="1200" b="1">
                <a:solidFill>
                  <a:schemeClr val="accent1"/>
                </a:solidFill>
                <a:latin typeface="Montserrat" pitchFamily="2" charset="77"/>
              </a:rPr>
              <a:t> €734 </a:t>
            </a:r>
          </a:p>
          <a:p>
            <a:r>
              <a:rPr lang="en-CA" sz="1200">
                <a:latin typeface="Montserrat" pitchFamily="2" charset="77"/>
              </a:rPr>
              <a:t>per tonne</a:t>
            </a:r>
            <a:endParaRPr lang="en-US" sz="1200">
              <a:latin typeface="Montserrat" pitchFamily="2" charset="77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7C4260E0-7B31-D1E9-41C6-F8A89C3D00A2}"/>
              </a:ext>
            </a:extLst>
          </p:cNvPr>
          <p:cNvSpPr/>
          <p:nvPr/>
        </p:nvSpPr>
        <p:spPr>
          <a:xfrm>
            <a:off x="5128690" y="1766541"/>
            <a:ext cx="6729639" cy="277482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dist="12700" dir="5400000" algn="t" rotWithShape="0">
              <a:schemeClr val="bg2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bg2"/>
                </a:solidFill>
                <a:latin typeface="Montserrat" pitchFamily="2" charset="77"/>
                <a:ea typeface="Helvetica Neue" panose="02000503000000020004" pitchFamily="2" charset="0"/>
                <a:cs typeface="Helvetica Neue" panose="02000503000000020004" pitchFamily="2" charset="0"/>
              </a:rPr>
              <a:t>Analysis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3F55A78-8995-5E48-7DF6-2BB91915E590}"/>
              </a:ext>
            </a:extLst>
          </p:cNvPr>
          <p:cNvCxnSpPr>
            <a:cxnSpLocks/>
          </p:cNvCxnSpPr>
          <p:nvPr/>
        </p:nvCxnSpPr>
        <p:spPr>
          <a:xfrm>
            <a:off x="5031072" y="2044023"/>
            <a:ext cx="0" cy="4425781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268BC307-C447-D611-03B0-5FABD4B47DF8}"/>
              </a:ext>
            </a:extLst>
          </p:cNvPr>
          <p:cNvSpPr txBox="1"/>
          <p:nvPr/>
        </p:nvSpPr>
        <p:spPr>
          <a:xfrm>
            <a:off x="5153147" y="2607951"/>
            <a:ext cx="67051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200">
                <a:solidFill>
                  <a:schemeClr val="bg2"/>
                </a:solidFill>
                <a:latin typeface="Montserrat" pitchFamily="2" charset="77"/>
              </a:rPr>
              <a:t>However, this </a:t>
            </a:r>
            <a:r>
              <a:rPr lang="en-CA" sz="1200" b="1">
                <a:solidFill>
                  <a:schemeClr val="bg2"/>
                </a:solidFill>
                <a:latin typeface="Montserrat" pitchFamily="2" charset="77"/>
              </a:rPr>
              <a:t>first-order effect </a:t>
            </a:r>
            <a:r>
              <a:rPr lang="en-CA" sz="1200">
                <a:solidFill>
                  <a:schemeClr val="bg2"/>
                </a:solidFill>
                <a:latin typeface="Montserrat" pitchFamily="2" charset="77"/>
              </a:rPr>
              <a:t>must be considered </a:t>
            </a:r>
            <a:r>
              <a:rPr lang="en-CA" sz="1200" b="1">
                <a:solidFill>
                  <a:schemeClr val="bg2"/>
                </a:solidFill>
                <a:latin typeface="Montserrat" pitchFamily="2" charset="77"/>
              </a:rPr>
              <a:t>alongside three key mitigating factors</a:t>
            </a:r>
            <a:r>
              <a:rPr lang="en-CA" sz="1200">
                <a:solidFill>
                  <a:schemeClr val="bg2"/>
                </a:solidFill>
                <a:latin typeface="Montserrat" pitchFamily="2" charset="77"/>
              </a:rPr>
              <a:t>: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AD51F2D-43EC-7044-71CD-486BD265A844}"/>
              </a:ext>
            </a:extLst>
          </p:cNvPr>
          <p:cNvSpPr txBox="1"/>
          <p:nvPr/>
        </p:nvSpPr>
        <p:spPr>
          <a:xfrm>
            <a:off x="5197324" y="4297775"/>
            <a:ext cx="2038750" cy="1461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CA" sz="1200">
                <a:solidFill>
                  <a:schemeClr val="bg2"/>
                </a:solidFill>
                <a:latin typeface="Montserrat" pitchFamily="2" charset="77"/>
              </a:rPr>
              <a:t>Significantly increases the effective cost of fossil fuel use.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CA" sz="1200">
                <a:solidFill>
                  <a:schemeClr val="bg2"/>
                </a:solidFill>
                <a:latin typeface="Montserrat" pitchFamily="2" charset="77"/>
              </a:rPr>
              <a:t>Higher SAF shares materially reduce ETS exposure. </a:t>
            </a:r>
          </a:p>
        </p:txBody>
      </p:sp>
      <p:cxnSp>
        <p:nvCxnSpPr>
          <p:cNvPr id="27" name="Elbow Connector 26">
            <a:extLst>
              <a:ext uri="{FF2B5EF4-FFF2-40B4-BE49-F238E27FC236}">
                <a16:creationId xmlns:a16="http://schemas.microsoft.com/office/drawing/2014/main" id="{A4D08A28-26CD-B311-141E-2F022FB6E819}"/>
              </a:ext>
            </a:extLst>
          </p:cNvPr>
          <p:cNvCxnSpPr>
            <a:cxnSpLocks/>
            <a:endCxn id="28" idx="0"/>
          </p:cNvCxnSpPr>
          <p:nvPr/>
        </p:nvCxnSpPr>
        <p:spPr>
          <a:xfrm rot="5400000">
            <a:off x="7168243" y="2373102"/>
            <a:ext cx="382370" cy="2268163"/>
          </a:xfrm>
          <a:prstGeom prst="bentConnector3">
            <a:avLst>
              <a:gd name="adj1" fmla="val 50000"/>
            </a:avLst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56C32F79-749D-A0B7-455F-419F2E6D19CD}"/>
              </a:ext>
            </a:extLst>
          </p:cNvPr>
          <p:cNvSpPr/>
          <p:nvPr/>
        </p:nvSpPr>
        <p:spPr>
          <a:xfrm>
            <a:off x="5893774" y="3698368"/>
            <a:ext cx="663143" cy="3601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D5A7776-D03E-8592-8F26-16215B829A9A}"/>
              </a:ext>
            </a:extLst>
          </p:cNvPr>
          <p:cNvSpPr/>
          <p:nvPr/>
        </p:nvSpPr>
        <p:spPr>
          <a:xfrm>
            <a:off x="8158463" y="3698368"/>
            <a:ext cx="663143" cy="3601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4" name="Elbow Connector 33">
            <a:extLst>
              <a:ext uri="{FF2B5EF4-FFF2-40B4-BE49-F238E27FC236}">
                <a16:creationId xmlns:a16="http://schemas.microsoft.com/office/drawing/2014/main" id="{B9D47420-B071-86CF-C518-B5535E382D90}"/>
              </a:ext>
            </a:extLst>
          </p:cNvPr>
          <p:cNvCxnSpPr>
            <a:cxnSpLocks/>
            <a:endCxn id="32" idx="0"/>
          </p:cNvCxnSpPr>
          <p:nvPr/>
        </p:nvCxnSpPr>
        <p:spPr>
          <a:xfrm rot="5400000">
            <a:off x="8300587" y="3505446"/>
            <a:ext cx="382370" cy="3474"/>
          </a:xfrm>
          <a:prstGeom prst="bentConnector3">
            <a:avLst>
              <a:gd name="adj1" fmla="val 50000"/>
            </a:avLst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4AB2BEBE-6DED-8386-F4A3-ACCE52A06B3B}"/>
              </a:ext>
            </a:extLst>
          </p:cNvPr>
          <p:cNvSpPr/>
          <p:nvPr/>
        </p:nvSpPr>
        <p:spPr>
          <a:xfrm>
            <a:off x="10400851" y="3698368"/>
            <a:ext cx="663143" cy="3601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" name="Elbow Connector 38">
            <a:extLst>
              <a:ext uri="{FF2B5EF4-FFF2-40B4-BE49-F238E27FC236}">
                <a16:creationId xmlns:a16="http://schemas.microsoft.com/office/drawing/2014/main" id="{2FF22874-7FBE-F5DF-AC7A-261E4A12A7C7}"/>
              </a:ext>
            </a:extLst>
          </p:cNvPr>
          <p:cNvCxnSpPr>
            <a:cxnSpLocks/>
            <a:endCxn id="38" idx="0"/>
          </p:cNvCxnSpPr>
          <p:nvPr/>
        </p:nvCxnSpPr>
        <p:spPr>
          <a:xfrm rot="16200000" flipH="1">
            <a:off x="9421781" y="2387726"/>
            <a:ext cx="382370" cy="2238914"/>
          </a:xfrm>
          <a:prstGeom prst="bentConnector3">
            <a:avLst>
              <a:gd name="adj1" fmla="val 50000"/>
            </a:avLst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2C5207BA-9977-C9BE-2E9C-95B98F6A6437}"/>
              </a:ext>
            </a:extLst>
          </p:cNvPr>
          <p:cNvSpPr txBox="1"/>
          <p:nvPr/>
        </p:nvSpPr>
        <p:spPr>
          <a:xfrm>
            <a:off x="5241495" y="3703421"/>
            <a:ext cx="195040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CA" sz="1200" b="1" dirty="0">
                <a:solidFill>
                  <a:schemeClr val="bg2"/>
                </a:solidFill>
                <a:latin typeface="Montserrat" pitchFamily="2" charset="77"/>
              </a:rPr>
              <a:t>EU Emissions Trading System (ETS) </a:t>
            </a:r>
            <a:endParaRPr lang="en-US" sz="1200" b="1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36366B4-C846-6581-71C0-F99B3321D1AB}"/>
              </a:ext>
            </a:extLst>
          </p:cNvPr>
          <p:cNvSpPr txBox="1"/>
          <p:nvPr/>
        </p:nvSpPr>
        <p:spPr>
          <a:xfrm>
            <a:off x="7530532" y="3703421"/>
            <a:ext cx="195040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CA" sz="1200" b="1" dirty="0">
                <a:solidFill>
                  <a:schemeClr val="bg2"/>
                </a:solidFill>
                <a:latin typeface="Montserrat" pitchFamily="2" charset="77"/>
              </a:rPr>
              <a:t>ReFuelEU Regulatory Framework</a:t>
            </a:r>
            <a:endParaRPr lang="en-US" sz="1200" b="1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692A5B9-F002-E2FA-DDB7-7EDD0C5A3342}"/>
              </a:ext>
            </a:extLst>
          </p:cNvPr>
          <p:cNvSpPr txBox="1"/>
          <p:nvPr/>
        </p:nvSpPr>
        <p:spPr>
          <a:xfrm>
            <a:off x="7466615" y="4297775"/>
            <a:ext cx="2038751" cy="1831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CA" sz="1200">
                <a:solidFill>
                  <a:schemeClr val="bg2"/>
                </a:solidFill>
                <a:latin typeface="Montserrat" pitchFamily="2" charset="77"/>
              </a:rPr>
              <a:t>Introduces financial incentives for compliance and penalties for non-compliance. 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CA" sz="1200">
                <a:solidFill>
                  <a:schemeClr val="bg2"/>
                </a:solidFill>
                <a:latin typeface="Montserrat" pitchFamily="2" charset="77"/>
              </a:rPr>
              <a:t>Fines are designed to be at least twice the value of the SAF price differential.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4C1A52B-5B1B-3850-4B3B-87BF9E4B6848}"/>
              </a:ext>
            </a:extLst>
          </p:cNvPr>
          <p:cNvSpPr txBox="1"/>
          <p:nvPr/>
        </p:nvSpPr>
        <p:spPr>
          <a:xfrm>
            <a:off x="9776169" y="3703421"/>
            <a:ext cx="195040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CA" sz="1200" b="1" dirty="0">
                <a:solidFill>
                  <a:schemeClr val="bg2"/>
                </a:solidFill>
                <a:latin typeface="Montserrat" pitchFamily="2" charset="77"/>
              </a:rPr>
              <a:t>Energy Security and Industrial Policy</a:t>
            </a:r>
            <a:endParaRPr lang="en-US" sz="1200" b="1" dirty="0"/>
          </a:p>
        </p:txBody>
      </p:sp>
      <p:sp>
        <p:nvSpPr>
          <p:cNvPr id="8192" name="TextBox 8191">
            <a:extLst>
              <a:ext uri="{FF2B5EF4-FFF2-40B4-BE49-F238E27FC236}">
                <a16:creationId xmlns:a16="http://schemas.microsoft.com/office/drawing/2014/main" id="{F2B61407-8ACF-099B-84BC-59748C01C0CA}"/>
              </a:ext>
            </a:extLst>
          </p:cNvPr>
          <p:cNvSpPr txBox="1"/>
          <p:nvPr/>
        </p:nvSpPr>
        <p:spPr>
          <a:xfrm>
            <a:off x="9650715" y="4330224"/>
            <a:ext cx="220131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171450" indent="-171450">
              <a:spcBef>
                <a:spcPts val="600"/>
              </a:spcBef>
              <a:buFont typeface="Arial" panose="020B0604020202020204" pitchFamily="34" charset="0"/>
              <a:buChar char="•"/>
              <a:defRPr sz="1200">
                <a:solidFill>
                  <a:schemeClr val="bg2"/>
                </a:solidFill>
                <a:latin typeface="Montserrat" pitchFamily="2" charset="77"/>
              </a:defRPr>
            </a:lvl1pPr>
          </a:lstStyle>
          <a:p>
            <a:r>
              <a:rPr lang="en-CA" dirty="0"/>
              <a:t>Reducing dependence on imported fossil fuels and fostering domestic production of alternate fuels, the EU mitigates its exposure to geopolitical risks and fuel price volatility</a:t>
            </a:r>
          </a:p>
        </p:txBody>
      </p:sp>
      <p:pic>
        <p:nvPicPr>
          <p:cNvPr id="1040" name="Picture 16" descr="Star ">
            <a:extLst>
              <a:ext uri="{FF2B5EF4-FFF2-40B4-BE49-F238E27FC236}">
                <a16:creationId xmlns:a16="http://schemas.microsoft.com/office/drawing/2014/main" id="{8C1BD7DD-981B-FD7E-7395-9F3B1F763A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9935" y="2966888"/>
            <a:ext cx="360197" cy="3601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193" name="Rounded Rectangle 8192">
            <a:extLst>
              <a:ext uri="{FF2B5EF4-FFF2-40B4-BE49-F238E27FC236}">
                <a16:creationId xmlns:a16="http://schemas.microsoft.com/office/drawing/2014/main" id="{7270F15F-BF75-28E3-3DFC-623AF5055F41}"/>
              </a:ext>
            </a:extLst>
          </p:cNvPr>
          <p:cNvSpPr/>
          <p:nvPr/>
        </p:nvSpPr>
        <p:spPr>
          <a:xfrm>
            <a:off x="5241494" y="6238972"/>
            <a:ext cx="6616827" cy="242822"/>
          </a:xfrm>
          <a:prstGeom prst="roundRect">
            <a:avLst>
              <a:gd name="adj" fmla="val 5856"/>
            </a:avLst>
          </a:prstGeom>
          <a:solidFill>
            <a:schemeClr val="accent3">
              <a:lumMod val="50000"/>
            </a:schemeClr>
          </a:solidFill>
          <a:ln>
            <a:noFill/>
          </a:ln>
          <a:effectLst>
            <a:outerShdw blurRad="50800" dist="38100" dir="5400000" algn="t" rotWithShape="0">
              <a:schemeClr val="bg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r>
              <a:rPr lang="en-US" sz="1150">
                <a:solidFill>
                  <a:schemeClr val="bg1"/>
                </a:solidFill>
                <a:latin typeface="Montserrat" pitchFamily="2" charset="77"/>
              </a:rPr>
              <a:t>SAF is costly at first, but </a:t>
            </a:r>
            <a:r>
              <a:rPr lang="en-US" sz="1150" b="1">
                <a:solidFill>
                  <a:schemeClr val="bg1"/>
                </a:solidFill>
                <a:latin typeface="Montserrat" pitchFamily="2" charset="77"/>
              </a:rPr>
              <a:t>essential</a:t>
            </a:r>
            <a:r>
              <a:rPr lang="en-US" sz="1150">
                <a:solidFill>
                  <a:schemeClr val="bg1"/>
                </a:solidFill>
                <a:latin typeface="Montserrat" pitchFamily="2" charset="77"/>
              </a:rPr>
              <a:t> in the end.</a:t>
            </a:r>
          </a:p>
        </p:txBody>
      </p:sp>
      <p:sp>
        <p:nvSpPr>
          <p:cNvPr id="8195" name="Rounded Rectangle 8194">
            <a:extLst>
              <a:ext uri="{FF2B5EF4-FFF2-40B4-BE49-F238E27FC236}">
                <a16:creationId xmlns:a16="http://schemas.microsoft.com/office/drawing/2014/main" id="{30BE6AD5-FD3A-EF94-B865-0D959E68AEED}"/>
              </a:ext>
            </a:extLst>
          </p:cNvPr>
          <p:cNvSpPr/>
          <p:nvPr/>
        </p:nvSpPr>
        <p:spPr>
          <a:xfrm>
            <a:off x="5241494" y="6324103"/>
            <a:ext cx="1620000" cy="72561"/>
          </a:xfrm>
          <a:prstGeom prst="roundRect">
            <a:avLst>
              <a:gd name="adj" fmla="val 5856"/>
            </a:avLst>
          </a:prstGeom>
          <a:solidFill>
            <a:schemeClr val="accent3">
              <a:lumMod val="20000"/>
              <a:lumOff val="80000"/>
              <a:alpha val="29201"/>
            </a:schemeClr>
          </a:solidFill>
          <a:ln>
            <a:noFill/>
          </a:ln>
          <a:effectLst>
            <a:outerShdw blurRad="50800" dist="38100" dir="5400000" algn="t" rotWithShape="0">
              <a:schemeClr val="bg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en-US" sz="1150">
              <a:solidFill>
                <a:schemeClr val="bg1"/>
              </a:solidFill>
              <a:latin typeface="Montserrat" pitchFamily="2" charset="77"/>
            </a:endParaRPr>
          </a:p>
        </p:txBody>
      </p:sp>
      <p:sp>
        <p:nvSpPr>
          <p:cNvPr id="8196" name="Rounded Rectangle 8195">
            <a:extLst>
              <a:ext uri="{FF2B5EF4-FFF2-40B4-BE49-F238E27FC236}">
                <a16:creationId xmlns:a16="http://schemas.microsoft.com/office/drawing/2014/main" id="{7142FAAF-3825-2E63-2B4D-ECD2660049F5}"/>
              </a:ext>
            </a:extLst>
          </p:cNvPr>
          <p:cNvSpPr/>
          <p:nvPr/>
        </p:nvSpPr>
        <p:spPr>
          <a:xfrm>
            <a:off x="10238321" y="6324103"/>
            <a:ext cx="1620000" cy="72561"/>
          </a:xfrm>
          <a:prstGeom prst="roundRect">
            <a:avLst>
              <a:gd name="adj" fmla="val 5856"/>
            </a:avLst>
          </a:prstGeom>
          <a:solidFill>
            <a:schemeClr val="accent3">
              <a:lumMod val="20000"/>
              <a:lumOff val="80000"/>
              <a:alpha val="29201"/>
            </a:schemeClr>
          </a:solidFill>
          <a:ln>
            <a:noFill/>
          </a:ln>
          <a:effectLst>
            <a:outerShdw blurRad="50800" dist="38100" dir="5400000" algn="t" rotWithShape="0">
              <a:schemeClr val="bg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en-US" sz="1150">
              <a:solidFill>
                <a:schemeClr val="bg1"/>
              </a:solidFill>
              <a:latin typeface="Montserrat" pitchFamily="2" charset="77"/>
            </a:endParaRPr>
          </a:p>
        </p:txBody>
      </p:sp>
      <p:pic>
        <p:nvPicPr>
          <p:cNvPr id="1042" name="Picture 18" descr="Mace ">
            <a:extLst>
              <a:ext uri="{FF2B5EF4-FFF2-40B4-BE49-F238E27FC236}">
                <a16:creationId xmlns:a16="http://schemas.microsoft.com/office/drawing/2014/main" id="{5938EC9D-EECC-D84D-F22A-1DD6782910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alphaModFix/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1357" y="3942169"/>
            <a:ext cx="376006" cy="3760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4" name="Picture 20" descr="Regulatory ">
            <a:extLst>
              <a:ext uri="{FF2B5EF4-FFF2-40B4-BE49-F238E27FC236}">
                <a16:creationId xmlns:a16="http://schemas.microsoft.com/office/drawing/2014/main" id="{7FD0D647-B71D-DA14-9C44-530E529FA7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alphaModFix/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7131" y="3932172"/>
            <a:ext cx="396000" cy="39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 descr="Insurance ">
            <a:extLst>
              <a:ext uri="{FF2B5EF4-FFF2-40B4-BE49-F238E27FC236}">
                <a16:creationId xmlns:a16="http://schemas.microsoft.com/office/drawing/2014/main" id="{9C0D970D-1703-B086-FA14-42E448248B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alphaModFix/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01699" y="3942170"/>
            <a:ext cx="376005" cy="376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197" name="Rectangle 8196">
            <a:extLst>
              <a:ext uri="{FF2B5EF4-FFF2-40B4-BE49-F238E27FC236}">
                <a16:creationId xmlns:a16="http://schemas.microsoft.com/office/drawing/2014/main" id="{CD002BB5-91F8-7A2F-0943-048CE562BE3D}"/>
              </a:ext>
            </a:extLst>
          </p:cNvPr>
          <p:cNvSpPr/>
          <p:nvPr/>
        </p:nvSpPr>
        <p:spPr>
          <a:xfrm>
            <a:off x="0" y="6705690"/>
            <a:ext cx="12192000" cy="180000"/>
          </a:xfrm>
          <a:prstGeom prst="rect">
            <a:avLst/>
          </a:prstGeom>
          <a:solidFill>
            <a:schemeClr val="accent3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accent3"/>
              </a:solidFill>
              <a:effectLst/>
              <a:uLnTx/>
              <a:uFillTx/>
              <a:latin typeface="Montserrat" pitchFamily="2" charset="77"/>
            </a:endParaRPr>
          </a:p>
        </p:txBody>
      </p:sp>
      <p:sp>
        <p:nvSpPr>
          <p:cNvPr id="8198" name="Rectangle 8197">
            <a:extLst>
              <a:ext uri="{FF2B5EF4-FFF2-40B4-BE49-F238E27FC236}">
                <a16:creationId xmlns:a16="http://schemas.microsoft.com/office/drawing/2014/main" id="{D46B20CA-706F-EE10-A0BD-80194D3182A8}"/>
              </a:ext>
            </a:extLst>
          </p:cNvPr>
          <p:cNvSpPr/>
          <p:nvPr/>
        </p:nvSpPr>
        <p:spPr>
          <a:xfrm>
            <a:off x="4156319" y="6669315"/>
            <a:ext cx="916029" cy="21434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rtlCol="0" anchor="ctr"/>
          <a:lstStyle/>
          <a:p>
            <a:pPr algn="ctr"/>
            <a:r>
              <a:rPr lang="en-CA" sz="900" kern="0">
                <a:solidFill>
                  <a:schemeClr val="accent3">
                    <a:lumMod val="60000"/>
                    <a:lumOff val="40000"/>
                  </a:schemeClr>
                </a:solidFill>
                <a:latin typeface="Montserrat" pitchFamily="2" charset="77"/>
              </a:rPr>
              <a:t>Emissions</a:t>
            </a:r>
            <a:endParaRPr lang="en-US" sz="900" kern="0">
              <a:solidFill>
                <a:schemeClr val="accent3">
                  <a:lumMod val="60000"/>
                  <a:lumOff val="40000"/>
                </a:schemeClr>
              </a:solidFill>
              <a:latin typeface="Montserrat" pitchFamily="2" charset="77"/>
            </a:endParaRPr>
          </a:p>
        </p:txBody>
      </p:sp>
      <p:sp>
        <p:nvSpPr>
          <p:cNvPr id="8199" name="Rectangle 8198">
            <a:extLst>
              <a:ext uri="{FF2B5EF4-FFF2-40B4-BE49-F238E27FC236}">
                <a16:creationId xmlns:a16="http://schemas.microsoft.com/office/drawing/2014/main" id="{9A0B024D-B2D6-12EC-2825-8CEDD3EDC4BD}"/>
              </a:ext>
            </a:extLst>
          </p:cNvPr>
          <p:cNvSpPr/>
          <p:nvPr/>
        </p:nvSpPr>
        <p:spPr>
          <a:xfrm>
            <a:off x="5370924" y="6669315"/>
            <a:ext cx="916029" cy="21434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rtlCol="0" anchor="ctr"/>
          <a:lstStyle/>
          <a:p>
            <a:pPr algn="ctr"/>
            <a:r>
              <a:rPr lang="en-CA" sz="900" b="1" kern="0">
                <a:solidFill>
                  <a:schemeClr val="accent3"/>
                </a:solidFill>
                <a:latin typeface="Montserrat" pitchFamily="2" charset="77"/>
              </a:rPr>
              <a:t>Costs</a:t>
            </a:r>
            <a:endParaRPr lang="en-US" sz="900" b="1" kern="0">
              <a:solidFill>
                <a:schemeClr val="accent3"/>
              </a:solidFill>
              <a:latin typeface="Montserrat" pitchFamily="2" charset="77"/>
            </a:endParaRPr>
          </a:p>
        </p:txBody>
      </p:sp>
      <p:sp>
        <p:nvSpPr>
          <p:cNvPr id="8200" name="Rectangle 8199">
            <a:extLst>
              <a:ext uri="{FF2B5EF4-FFF2-40B4-BE49-F238E27FC236}">
                <a16:creationId xmlns:a16="http://schemas.microsoft.com/office/drawing/2014/main" id="{AC318BCE-B84F-E8E4-2522-2A2B357339ED}"/>
              </a:ext>
            </a:extLst>
          </p:cNvPr>
          <p:cNvSpPr/>
          <p:nvPr/>
        </p:nvSpPr>
        <p:spPr>
          <a:xfrm>
            <a:off x="6585530" y="6669315"/>
            <a:ext cx="1450152" cy="21434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rtlCol="0" anchor="ctr"/>
          <a:lstStyle/>
          <a:p>
            <a:pPr algn="ctr"/>
            <a:r>
              <a:rPr lang="en-CA" sz="900" kern="0">
                <a:solidFill>
                  <a:schemeClr val="accent3">
                    <a:lumMod val="60000"/>
                    <a:lumOff val="40000"/>
                  </a:schemeClr>
                </a:solidFill>
                <a:latin typeface="Montserrat" pitchFamily="2" charset="77"/>
              </a:rPr>
              <a:t>Policy</a:t>
            </a:r>
            <a:r>
              <a:rPr lang="en-CA" sz="900" b="1" kern="0">
                <a:solidFill>
                  <a:schemeClr val="accent3"/>
                </a:solidFill>
                <a:latin typeface="Montserrat" pitchFamily="2" charset="77"/>
              </a:rPr>
              <a:t> </a:t>
            </a:r>
            <a:r>
              <a:rPr lang="en-CA" sz="900" kern="0">
                <a:solidFill>
                  <a:schemeClr val="accent3">
                    <a:lumMod val="60000"/>
                    <a:lumOff val="40000"/>
                  </a:schemeClr>
                </a:solidFill>
                <a:latin typeface="Montserrat" pitchFamily="2" charset="77"/>
              </a:rPr>
              <a:t>Implications</a:t>
            </a:r>
            <a:endParaRPr lang="en-US" sz="900" kern="0">
              <a:solidFill>
                <a:schemeClr val="accent3">
                  <a:lumMod val="60000"/>
                  <a:lumOff val="40000"/>
                </a:schemeClr>
              </a:solidFill>
              <a:latin typeface="Montserrat" pitchFamily="2" charset="77"/>
            </a:endParaRPr>
          </a:p>
        </p:txBody>
      </p:sp>
      <p:cxnSp>
        <p:nvCxnSpPr>
          <p:cNvPr id="8201" name="Straight Connector 8200">
            <a:extLst>
              <a:ext uri="{FF2B5EF4-FFF2-40B4-BE49-F238E27FC236}">
                <a16:creationId xmlns:a16="http://schemas.microsoft.com/office/drawing/2014/main" id="{EE5D0CAB-78D5-204A-7484-021D5B749707}"/>
              </a:ext>
            </a:extLst>
          </p:cNvPr>
          <p:cNvCxnSpPr>
            <a:cxnSpLocks/>
          </p:cNvCxnSpPr>
          <p:nvPr/>
        </p:nvCxnSpPr>
        <p:spPr>
          <a:xfrm>
            <a:off x="5221636" y="6704487"/>
            <a:ext cx="0" cy="144000"/>
          </a:xfrm>
          <a:prstGeom prst="line">
            <a:avLst/>
          </a:prstGeom>
          <a:ln w="12700"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02" name="Straight Connector 8201">
            <a:extLst>
              <a:ext uri="{FF2B5EF4-FFF2-40B4-BE49-F238E27FC236}">
                <a16:creationId xmlns:a16="http://schemas.microsoft.com/office/drawing/2014/main" id="{63359B2F-3C90-5707-5748-6924C6AD2855}"/>
              </a:ext>
            </a:extLst>
          </p:cNvPr>
          <p:cNvCxnSpPr>
            <a:cxnSpLocks/>
          </p:cNvCxnSpPr>
          <p:nvPr/>
        </p:nvCxnSpPr>
        <p:spPr>
          <a:xfrm>
            <a:off x="6436241" y="6704487"/>
            <a:ext cx="0" cy="144000"/>
          </a:xfrm>
          <a:prstGeom prst="line">
            <a:avLst/>
          </a:prstGeom>
          <a:ln w="12700"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9F0BD0FB-7581-235B-168F-1F849F3F6D2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8659" y="3280432"/>
            <a:ext cx="4571264" cy="3201362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A16F0B01-6C25-71C8-93F7-75CB00DD9E95}"/>
              </a:ext>
            </a:extLst>
          </p:cNvPr>
          <p:cNvSpPr txBox="1"/>
          <p:nvPr/>
        </p:nvSpPr>
        <p:spPr>
          <a:xfrm>
            <a:off x="11973262" y="6680073"/>
            <a:ext cx="22949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900" dirty="0">
                <a:solidFill>
                  <a:schemeClr val="accent3">
                    <a:lumMod val="50000"/>
                  </a:schemeClr>
                </a:solidFill>
                <a:latin typeface="Montserrat" pitchFamily="2" charset="77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3271288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E206DA-4BBD-0273-C953-000950E72E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Iata Logo PNG Vectors Free Download">
            <a:extLst>
              <a:ext uri="{FF2B5EF4-FFF2-40B4-BE49-F238E27FC236}">
                <a16:creationId xmlns:a16="http://schemas.microsoft.com/office/drawing/2014/main" id="{470059FC-4B75-E90F-16A8-BE4FED2F72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97341" y="-54430"/>
            <a:ext cx="762001" cy="762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9246630-A9CB-A162-A2AB-5D22B5FC76FB}"/>
              </a:ext>
            </a:extLst>
          </p:cNvPr>
          <p:cNvSpPr txBox="1"/>
          <p:nvPr/>
        </p:nvSpPr>
        <p:spPr>
          <a:xfrm>
            <a:off x="390208" y="225889"/>
            <a:ext cx="11007133" cy="80021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Montserrat" pitchFamily="2" charset="77"/>
                <a:ea typeface="Helvetica Neue" panose="02000503000000020004" pitchFamily="2" charset="0"/>
                <a:cs typeface="Segoe UI Semibold" panose="020B0702040204020203" pitchFamily="34" charset="0"/>
              </a:rPr>
              <a:t>Only a coherent policy mix of mandates, price support, and market instruments can unlock the scale of SAF required.</a:t>
            </a:r>
            <a:endParaRPr kumimoji="0" lang="en-US" sz="2600" i="0" u="none" strike="noStrike" kern="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Montserrat" pitchFamily="2" charset="77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C3C01A-55D4-90DA-8F19-99424F2A98A0}"/>
              </a:ext>
            </a:extLst>
          </p:cNvPr>
          <p:cNvSpPr txBox="1"/>
          <p:nvPr/>
        </p:nvSpPr>
        <p:spPr>
          <a:xfrm>
            <a:off x="390208" y="1060205"/>
            <a:ext cx="11253924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u="none" strike="noStrike" kern="0" cap="none" spc="0" normalizeH="0" baseline="0" noProof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Montserrat" pitchFamily="2" charset="77"/>
                <a:ea typeface="Helvetica Neue" panose="02000503000000020004" pitchFamily="2" charset="0"/>
                <a:cs typeface="Segoe UI Semibold" panose="020B0702040204020203" pitchFamily="34" charset="0"/>
              </a:rPr>
              <a:t>The transition’s success relies on aligned incentives: long-term certainty for investors, cost-bridging mechanisms for suppliers, and compliance tools that prevent loopholes such as tankering.</a:t>
            </a:r>
            <a:endParaRPr kumimoji="0" lang="en-US" sz="1600" i="0" u="none" strike="noStrike" kern="0" cap="none" spc="0" normalizeH="0" baseline="0" noProof="0">
              <a:ln>
                <a:noFill/>
              </a:ln>
              <a:solidFill>
                <a:schemeClr val="accent3"/>
              </a:solidFill>
              <a:effectLst/>
              <a:uLnTx/>
              <a:uFillTx/>
              <a:latin typeface="Montserrat" pitchFamily="2" charset="77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594CC58-D221-0F14-5E7A-704202A29FCA}"/>
              </a:ext>
            </a:extLst>
          </p:cNvPr>
          <p:cNvSpPr/>
          <p:nvPr/>
        </p:nvSpPr>
        <p:spPr>
          <a:xfrm>
            <a:off x="333665" y="1713080"/>
            <a:ext cx="11524656" cy="277482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bg2"/>
                </a:solidFill>
                <a:latin typeface="Montserrat" pitchFamily="2" charset="77"/>
                <a:ea typeface="Helvetica Neue" panose="02000503000000020004" pitchFamily="2" charset="0"/>
                <a:cs typeface="Helvetica Neue" panose="02000503000000020004" pitchFamily="2" charset="0"/>
              </a:rPr>
              <a:t>Interventions Needed to Unlock the High-Ambition Pathway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CC0C332-1410-960A-31D6-5BA30C2301FE}"/>
              </a:ext>
            </a:extLst>
          </p:cNvPr>
          <p:cNvSpPr txBox="1"/>
          <p:nvPr/>
        </p:nvSpPr>
        <p:spPr>
          <a:xfrm>
            <a:off x="333665" y="2558966"/>
            <a:ext cx="4802779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CA" sz="1200">
                <a:latin typeface="Montserrat" pitchFamily="2" charset="77"/>
              </a:rPr>
              <a:t>Our economic model estimates</a:t>
            </a:r>
            <a:r>
              <a:rPr lang="en-CA" sz="1200" b="1">
                <a:latin typeface="Montserrat" pitchFamily="2" charset="77"/>
              </a:rPr>
              <a:t> </a:t>
            </a:r>
            <a:r>
              <a:rPr lang="en-CA" sz="1200">
                <a:latin typeface="Montserrat" pitchFamily="2" charset="77"/>
              </a:rPr>
              <a:t>a Marginal Abatement Cost</a:t>
            </a:r>
            <a:r>
              <a:rPr lang="en-CA" sz="1200" b="1">
                <a:latin typeface="Montserrat" pitchFamily="2" charset="77"/>
              </a:rPr>
              <a:t> (MAC) of ~€491 </a:t>
            </a:r>
            <a:r>
              <a:rPr lang="en-CA" sz="1200">
                <a:latin typeface="Montserrat" pitchFamily="2" charset="77"/>
              </a:rPr>
              <a:t>per tCO₂ in 2035.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CA" sz="1200">
                <a:latin typeface="Montserrat" pitchFamily="2" charset="77"/>
              </a:rPr>
              <a:t>With 100% cost pass-through, this </a:t>
            </a:r>
            <a:r>
              <a:rPr lang="en-CA" sz="1200" b="1">
                <a:latin typeface="Montserrat" pitchFamily="2" charset="77"/>
              </a:rPr>
              <a:t>represents only a €5.61 increase per passenger</a:t>
            </a:r>
            <a:r>
              <a:rPr lang="en-CA" sz="1200">
                <a:latin typeface="Montserrat" pitchFamily="2" charset="77"/>
              </a:rPr>
              <a:t>.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CA" sz="1200">
                <a:latin typeface="Montserrat" pitchFamily="2" charset="77"/>
              </a:rPr>
              <a:t>This demonstrates that </a:t>
            </a:r>
            <a:r>
              <a:rPr lang="en-CA" sz="1200" b="1">
                <a:latin typeface="Montserrat" pitchFamily="2" charset="77"/>
              </a:rPr>
              <a:t>meaningful decarbonization is affordable</a:t>
            </a:r>
            <a:r>
              <a:rPr lang="en-CA" sz="1200">
                <a:latin typeface="Montserrat" pitchFamily="2" charset="77"/>
              </a:rPr>
              <a:t> when spread across travelers.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C74BBFFA-58DB-B017-2D9D-A2C45705AF25}"/>
              </a:ext>
            </a:extLst>
          </p:cNvPr>
          <p:cNvSpPr/>
          <p:nvPr/>
        </p:nvSpPr>
        <p:spPr>
          <a:xfrm>
            <a:off x="333665" y="2131934"/>
            <a:ext cx="4802779" cy="277482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dist="12700" dir="5400000" algn="t" rotWithShape="0">
              <a:schemeClr val="bg2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bg2"/>
                </a:solidFill>
                <a:latin typeface="Montserrat" pitchFamily="2" charset="77"/>
                <a:ea typeface="Helvetica Neue" panose="02000503000000020004" pitchFamily="2" charset="0"/>
                <a:cs typeface="Helvetica Neue" panose="02000503000000020004" pitchFamily="2" charset="0"/>
              </a:rPr>
              <a:t>Positive Economic Signal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AA12B660-F48B-8D36-89FA-E4FCAE913C53}"/>
              </a:ext>
            </a:extLst>
          </p:cNvPr>
          <p:cNvGrpSpPr/>
          <p:nvPr/>
        </p:nvGrpSpPr>
        <p:grpSpPr>
          <a:xfrm>
            <a:off x="333665" y="4060842"/>
            <a:ext cx="4802779" cy="993422"/>
            <a:chOff x="333665" y="4060842"/>
            <a:chExt cx="4802779" cy="993422"/>
          </a:xfrm>
        </p:grpSpPr>
        <p:sp>
          <p:nvSpPr>
            <p:cNvPr id="17" name="Pentagon 16">
              <a:extLst>
                <a:ext uri="{FF2B5EF4-FFF2-40B4-BE49-F238E27FC236}">
                  <a16:creationId xmlns:a16="http://schemas.microsoft.com/office/drawing/2014/main" id="{BF35237B-6B3F-49A2-EE94-B1FCC9F76FAA}"/>
                </a:ext>
              </a:extLst>
            </p:cNvPr>
            <p:cNvSpPr/>
            <p:nvPr/>
          </p:nvSpPr>
          <p:spPr>
            <a:xfrm>
              <a:off x="2422116" y="4060842"/>
              <a:ext cx="2714328" cy="993422"/>
            </a:xfrm>
            <a:prstGeom prst="homePlate">
              <a:avLst>
                <a:gd name="adj" fmla="val 0"/>
              </a:avLst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Pentagon 15">
              <a:extLst>
                <a:ext uri="{FF2B5EF4-FFF2-40B4-BE49-F238E27FC236}">
                  <a16:creationId xmlns:a16="http://schemas.microsoft.com/office/drawing/2014/main" id="{4C2CE863-6F99-E47E-6CD7-3606BA0471B9}"/>
                </a:ext>
              </a:extLst>
            </p:cNvPr>
            <p:cNvSpPr/>
            <p:nvPr/>
          </p:nvSpPr>
          <p:spPr>
            <a:xfrm>
              <a:off x="333665" y="4060842"/>
              <a:ext cx="2714328" cy="993422"/>
            </a:xfrm>
            <a:prstGeom prst="homePlate">
              <a:avLst/>
            </a:prstGeom>
            <a:gradFill flip="none" rotWithShape="1">
              <a:gsLst>
                <a:gs pos="66000">
                  <a:srgbClr val="BCC2FE"/>
                </a:gs>
                <a:gs pos="0">
                  <a:schemeClr val="accent3">
                    <a:lumMod val="40000"/>
                    <a:lumOff val="60000"/>
                  </a:schemeClr>
                </a:gs>
                <a:gs pos="100000">
                  <a:schemeClr val="accent3">
                    <a:lumMod val="20000"/>
                    <a:lumOff val="8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EFB34890-F076-0E68-ECBB-3A1875A9B4E0}"/>
              </a:ext>
            </a:extLst>
          </p:cNvPr>
          <p:cNvSpPr txBox="1"/>
          <p:nvPr/>
        </p:nvSpPr>
        <p:spPr>
          <a:xfrm>
            <a:off x="464738" y="4357498"/>
            <a:ext cx="183129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CA" sz="2000" b="1" i="1">
                <a:latin typeface="Montserrat" pitchFamily="2" charset="77"/>
              </a:rPr>
              <a:t>€491 </a:t>
            </a:r>
            <a:r>
              <a:rPr lang="en-CA" sz="1400" i="1">
                <a:latin typeface="Montserrat" pitchFamily="2" charset="77"/>
              </a:rPr>
              <a:t>/ tCO₂</a:t>
            </a:r>
            <a:endParaRPr lang="en-CA" sz="2000">
              <a:latin typeface="Montserrat" pitchFamily="2" charset="7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F11085F-5205-7516-544E-DB4E17977C85}"/>
              </a:ext>
            </a:extLst>
          </p:cNvPr>
          <p:cNvSpPr txBox="1"/>
          <p:nvPr/>
        </p:nvSpPr>
        <p:spPr>
          <a:xfrm>
            <a:off x="3157110" y="4249777"/>
            <a:ext cx="1831298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CA" sz="2000" b="1" i="1">
                <a:latin typeface="Montserrat" pitchFamily="2" charset="77"/>
              </a:rPr>
              <a:t>+€5.61 </a:t>
            </a:r>
          </a:p>
          <a:p>
            <a:pPr algn="ctr">
              <a:buNone/>
            </a:pPr>
            <a:r>
              <a:rPr lang="en-CA" sz="1400" i="1">
                <a:latin typeface="Montserrat" pitchFamily="2" charset="77"/>
              </a:rPr>
              <a:t>per passenger</a:t>
            </a:r>
            <a:endParaRPr lang="en-CA" sz="2000">
              <a:latin typeface="Montserrat" pitchFamily="2" charset="77"/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C10E692C-AA48-92C5-36C2-B4120088B6AA}"/>
              </a:ext>
            </a:extLst>
          </p:cNvPr>
          <p:cNvCxnSpPr>
            <a:cxnSpLocks/>
          </p:cNvCxnSpPr>
          <p:nvPr/>
        </p:nvCxnSpPr>
        <p:spPr>
          <a:xfrm>
            <a:off x="2258423" y="4557553"/>
            <a:ext cx="953262" cy="0"/>
          </a:xfrm>
          <a:prstGeom prst="straightConnector1">
            <a:avLst/>
          </a:prstGeom>
          <a:ln>
            <a:solidFill>
              <a:schemeClr val="accent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1D9F2F46-9D6A-60AB-5B90-72059D6674D2}"/>
              </a:ext>
            </a:extLst>
          </p:cNvPr>
          <p:cNvSpPr txBox="1"/>
          <p:nvPr/>
        </p:nvSpPr>
        <p:spPr>
          <a:xfrm>
            <a:off x="5261907" y="4781765"/>
            <a:ext cx="2775564" cy="1123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lang="en-CA" sz="1400" b="1">
                <a:latin typeface="Montserrat" pitchFamily="2" charset="77"/>
              </a:rPr>
              <a:t>Mandates</a:t>
            </a:r>
          </a:p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CA" sz="1200">
                <a:latin typeface="Montserrat" pitchFamily="2" charset="77"/>
              </a:rPr>
              <a:t>ReFuelEU blending obligations (2% → 6% → 20% → 70%).</a:t>
            </a:r>
          </a:p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CA" sz="1200">
                <a:latin typeface="Montserrat" pitchFamily="2" charset="77"/>
              </a:rPr>
              <a:t>Shift policy support toward </a:t>
            </a:r>
            <a:r>
              <a:rPr lang="en-CA" sz="1200" err="1">
                <a:latin typeface="Montserrat" pitchFamily="2" charset="77"/>
              </a:rPr>
              <a:t>PtL</a:t>
            </a:r>
            <a:r>
              <a:rPr lang="en-CA" sz="1200">
                <a:latin typeface="Montserrat" pitchFamily="2" charset="77"/>
              </a:rPr>
              <a:t> fuels post-2035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2ED87B96-E56A-B4AC-BC9F-404B91E0D7D2}"/>
              </a:ext>
            </a:extLst>
          </p:cNvPr>
          <p:cNvSpPr/>
          <p:nvPr/>
        </p:nvSpPr>
        <p:spPr>
          <a:xfrm>
            <a:off x="5266909" y="2131934"/>
            <a:ext cx="6591412" cy="277482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dist="12700" dir="5400000" algn="t" rotWithShape="0">
              <a:schemeClr val="bg2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bg2"/>
                </a:solidFill>
                <a:latin typeface="Montserrat" pitchFamily="2" charset="77"/>
                <a:ea typeface="Helvetica Neue" panose="02000503000000020004" pitchFamily="2" charset="0"/>
                <a:cs typeface="Helvetica Neue" panose="02000503000000020004" pitchFamily="2" charset="0"/>
              </a:rPr>
              <a:t>Strategic Recommendations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D5CFB50-5791-A102-1230-3BCC741408EC}"/>
              </a:ext>
            </a:extLst>
          </p:cNvPr>
          <p:cNvSpPr txBox="1"/>
          <p:nvPr/>
        </p:nvSpPr>
        <p:spPr>
          <a:xfrm>
            <a:off x="5245561" y="3637300"/>
            <a:ext cx="3696895" cy="1123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lang="en-CA" sz="1400" b="1">
                <a:latin typeface="Montserrat" pitchFamily="2" charset="77"/>
              </a:rPr>
              <a:t>Price Support</a:t>
            </a:r>
          </a:p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CA" sz="1200">
                <a:latin typeface="Montserrat" pitchFamily="2" charset="77"/>
              </a:rPr>
              <a:t>Contracts for Difference (</a:t>
            </a:r>
            <a:r>
              <a:rPr lang="en-CA" sz="1200" err="1">
                <a:latin typeface="Montserrat" pitchFamily="2" charset="77"/>
              </a:rPr>
              <a:t>CfDs</a:t>
            </a:r>
            <a:r>
              <a:rPr lang="en-CA" sz="1200">
                <a:latin typeface="Montserrat" pitchFamily="2" charset="77"/>
              </a:rPr>
              <a:t>) reduce producer risk and unlock SAF capacity</a:t>
            </a:r>
          </a:p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CA" sz="1200">
                <a:latin typeface="Montserrat" pitchFamily="2" charset="77"/>
              </a:rPr>
              <a:t>Reinvest ETS revenues + ReFuelEU penalties into SAF infrastructure.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7E34C1B1-2071-4D11-AD94-AD70E267A397}"/>
              </a:ext>
            </a:extLst>
          </p:cNvPr>
          <p:cNvCxnSpPr>
            <a:cxnSpLocks/>
          </p:cNvCxnSpPr>
          <p:nvPr/>
        </p:nvCxnSpPr>
        <p:spPr>
          <a:xfrm>
            <a:off x="5199175" y="2400111"/>
            <a:ext cx="0" cy="3605273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97B26154-249E-63CC-CB71-E6E5D3502AF1}"/>
              </a:ext>
            </a:extLst>
          </p:cNvPr>
          <p:cNvCxnSpPr>
            <a:cxnSpLocks/>
          </p:cNvCxnSpPr>
          <p:nvPr/>
        </p:nvCxnSpPr>
        <p:spPr>
          <a:xfrm>
            <a:off x="0" y="6340818"/>
            <a:ext cx="12159342" cy="0"/>
          </a:xfrm>
          <a:prstGeom prst="straightConnector1">
            <a:avLst/>
          </a:prstGeom>
          <a:ln>
            <a:solidFill>
              <a:schemeClr val="accent3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C1843813-F67F-B529-1ACE-D86F7C952F75}"/>
              </a:ext>
            </a:extLst>
          </p:cNvPr>
          <p:cNvSpPr/>
          <p:nvPr/>
        </p:nvSpPr>
        <p:spPr>
          <a:xfrm>
            <a:off x="644849" y="6233646"/>
            <a:ext cx="891095" cy="2143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100">
                <a:solidFill>
                  <a:schemeClr val="accent3"/>
                </a:solidFill>
                <a:latin typeface="Montserrat" pitchFamily="2" charset="77"/>
              </a:rPr>
              <a:t>Mandates</a:t>
            </a:r>
            <a:endParaRPr lang="en-US" sz="1100">
              <a:solidFill>
                <a:schemeClr val="accent3"/>
              </a:solidFill>
              <a:latin typeface="Montserrat" pitchFamily="2" charset="77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84A32E2-33D2-52DF-D922-AA1375AADA07}"/>
              </a:ext>
            </a:extLst>
          </p:cNvPr>
          <p:cNvSpPr/>
          <p:nvPr/>
        </p:nvSpPr>
        <p:spPr>
          <a:xfrm>
            <a:off x="2119569" y="6233646"/>
            <a:ext cx="1674005" cy="2143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100">
                <a:solidFill>
                  <a:schemeClr val="accent3"/>
                </a:solidFill>
                <a:latin typeface="Montserrat" pitchFamily="2" charset="77"/>
              </a:rPr>
              <a:t>Investment certainty </a:t>
            </a:r>
            <a:endParaRPr lang="en-US" sz="1100">
              <a:solidFill>
                <a:schemeClr val="accent3"/>
              </a:solidFill>
              <a:latin typeface="Montserrat" pitchFamily="2" charset="77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4640609F-A2F8-25D4-BA39-E8B69803ED9B}"/>
              </a:ext>
            </a:extLst>
          </p:cNvPr>
          <p:cNvSpPr/>
          <p:nvPr/>
        </p:nvSpPr>
        <p:spPr>
          <a:xfrm>
            <a:off x="4377199" y="6233646"/>
            <a:ext cx="1377614" cy="2143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100">
                <a:solidFill>
                  <a:schemeClr val="accent3"/>
                </a:solidFill>
                <a:latin typeface="Montserrat" pitchFamily="2" charset="77"/>
              </a:rPr>
              <a:t>Production scale </a:t>
            </a:r>
            <a:endParaRPr lang="en-US" sz="1100">
              <a:solidFill>
                <a:schemeClr val="accent3"/>
              </a:solidFill>
              <a:latin typeface="Montserrat" pitchFamily="2" charset="77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103ABE70-F5CD-7DC1-878C-26D6C415367B}"/>
              </a:ext>
            </a:extLst>
          </p:cNvPr>
          <p:cNvSpPr/>
          <p:nvPr/>
        </p:nvSpPr>
        <p:spPr>
          <a:xfrm>
            <a:off x="6338438" y="6233646"/>
            <a:ext cx="1115411" cy="2143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100">
                <a:solidFill>
                  <a:schemeClr val="accent3"/>
                </a:solidFill>
                <a:latin typeface="Montserrat" pitchFamily="2" charset="77"/>
              </a:rPr>
              <a:t>Falling costs </a:t>
            </a:r>
            <a:endParaRPr lang="en-US" sz="1100">
              <a:solidFill>
                <a:schemeClr val="accent3"/>
              </a:solidFill>
              <a:latin typeface="Montserrat" pitchFamily="2" charset="77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610FC817-7812-96CF-F922-A3E22B79FDE6}"/>
              </a:ext>
            </a:extLst>
          </p:cNvPr>
          <p:cNvSpPr/>
          <p:nvPr/>
        </p:nvSpPr>
        <p:spPr>
          <a:xfrm>
            <a:off x="8037474" y="6233646"/>
            <a:ext cx="1582739" cy="2143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100">
                <a:solidFill>
                  <a:schemeClr val="accent3"/>
                </a:solidFill>
                <a:latin typeface="Montserrat" pitchFamily="2" charset="77"/>
              </a:rPr>
              <a:t>Higher SAF uptake </a:t>
            </a:r>
            <a:endParaRPr lang="en-US" sz="1100">
              <a:solidFill>
                <a:schemeClr val="accent3"/>
              </a:solidFill>
              <a:latin typeface="Montserrat" pitchFamily="2" charset="77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F46DC149-60EB-4FC7-5D2A-EABCF17D8A83}"/>
              </a:ext>
            </a:extLst>
          </p:cNvPr>
          <p:cNvSpPr/>
          <p:nvPr/>
        </p:nvSpPr>
        <p:spPr>
          <a:xfrm>
            <a:off x="10203840" y="6233646"/>
            <a:ext cx="1349529" cy="2143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100">
                <a:solidFill>
                  <a:schemeClr val="accent3"/>
                </a:solidFill>
                <a:latin typeface="Montserrat" pitchFamily="2" charset="77"/>
              </a:rPr>
              <a:t>Lower emissions</a:t>
            </a:r>
            <a:endParaRPr lang="en-US" sz="1100">
              <a:solidFill>
                <a:schemeClr val="accent3"/>
              </a:solidFill>
              <a:latin typeface="Montserrat" pitchFamily="2" charset="77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9D04BA7A-FA82-B226-5258-6690F543F332}"/>
              </a:ext>
            </a:extLst>
          </p:cNvPr>
          <p:cNvSpPr/>
          <p:nvPr/>
        </p:nvSpPr>
        <p:spPr>
          <a:xfrm>
            <a:off x="0" y="6705690"/>
            <a:ext cx="12192000" cy="180000"/>
          </a:xfrm>
          <a:prstGeom prst="rect">
            <a:avLst/>
          </a:prstGeom>
          <a:solidFill>
            <a:schemeClr val="accent3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accent3"/>
              </a:solidFill>
              <a:effectLst/>
              <a:uLnTx/>
              <a:uFillTx/>
              <a:latin typeface="Montserrat" pitchFamily="2" charset="77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7F0F5274-2325-9FCF-4BDE-C7250EA77E6B}"/>
              </a:ext>
            </a:extLst>
          </p:cNvPr>
          <p:cNvSpPr/>
          <p:nvPr/>
        </p:nvSpPr>
        <p:spPr>
          <a:xfrm>
            <a:off x="333666" y="5350920"/>
            <a:ext cx="4797770" cy="675556"/>
          </a:xfrm>
          <a:prstGeom prst="roundRect">
            <a:avLst>
              <a:gd name="adj" fmla="val 5856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schemeClr val="bg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12000" rtlCol="0" anchor="ctr"/>
          <a:lstStyle/>
          <a:p>
            <a:r>
              <a:rPr lang="en-CA" sz="1400" b="1">
                <a:solidFill>
                  <a:schemeClr val="bg2"/>
                </a:solidFill>
                <a:latin typeface="Montserrat" pitchFamily="2" charset="77"/>
              </a:rPr>
              <a:t>Low per-passenger costs </a:t>
            </a:r>
            <a:r>
              <a:rPr lang="en-CA" sz="1400">
                <a:solidFill>
                  <a:schemeClr val="bg2"/>
                </a:solidFill>
                <a:latin typeface="Montserrat" pitchFamily="2" charset="77"/>
              </a:rPr>
              <a:t>make large-scale SAF deployment </a:t>
            </a:r>
            <a:r>
              <a:rPr lang="en-CA" sz="1400" b="1">
                <a:solidFill>
                  <a:schemeClr val="bg2"/>
                </a:solidFill>
                <a:latin typeface="Montserrat" pitchFamily="2" charset="77"/>
              </a:rPr>
              <a:t>viable</a:t>
            </a:r>
            <a:endParaRPr lang="en-US" sz="1400" b="1">
              <a:solidFill>
                <a:schemeClr val="bg2"/>
              </a:solidFill>
              <a:latin typeface="Montserrat" pitchFamily="2" charset="77"/>
            </a:endParaRPr>
          </a:p>
        </p:txBody>
      </p:sp>
      <p:sp>
        <p:nvSpPr>
          <p:cNvPr id="3" name="Triangle 2">
            <a:extLst>
              <a:ext uri="{FF2B5EF4-FFF2-40B4-BE49-F238E27FC236}">
                <a16:creationId xmlns:a16="http://schemas.microsoft.com/office/drawing/2014/main" id="{BF345A66-5A6C-951A-C2A2-CDC2B652C53E}"/>
              </a:ext>
            </a:extLst>
          </p:cNvPr>
          <p:cNvSpPr/>
          <p:nvPr/>
        </p:nvSpPr>
        <p:spPr>
          <a:xfrm rot="10800000">
            <a:off x="342458" y="5048650"/>
            <a:ext cx="4788975" cy="497369"/>
          </a:xfrm>
          <a:prstGeom prst="triangle">
            <a:avLst/>
          </a:prstGeom>
          <a:gradFill>
            <a:gsLst>
              <a:gs pos="0">
                <a:schemeClr val="bg1">
                  <a:alpha val="42390"/>
                </a:schemeClr>
              </a:gs>
              <a:gs pos="100000">
                <a:schemeClr val="tx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 19">
            <a:extLst>
              <a:ext uri="{FF2B5EF4-FFF2-40B4-BE49-F238E27FC236}">
                <a16:creationId xmlns:a16="http://schemas.microsoft.com/office/drawing/2014/main" id="{E16E61C5-7E96-1AEB-6C9E-7EC3C872174E}"/>
              </a:ext>
            </a:extLst>
          </p:cNvPr>
          <p:cNvSpPr/>
          <p:nvPr/>
        </p:nvSpPr>
        <p:spPr>
          <a:xfrm>
            <a:off x="8605209" y="3668616"/>
            <a:ext cx="2726186" cy="1061150"/>
          </a:xfrm>
          <a:custGeom>
            <a:avLst/>
            <a:gdLst>
              <a:gd name="csX0" fmla="*/ 666072 w 2726186"/>
              <a:gd name="csY0" fmla="*/ 0 h 1061150"/>
              <a:gd name="csX1" fmla="*/ 2060114 w 2726186"/>
              <a:gd name="csY1" fmla="*/ 0 h 1061150"/>
              <a:gd name="csX2" fmla="*/ 2726186 w 2726186"/>
              <a:gd name="csY2" fmla="*/ 1061150 h 1061150"/>
              <a:gd name="csX3" fmla="*/ 0 w 2726186"/>
              <a:gd name="csY3" fmla="*/ 1061150 h 10611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726186" h="1061150">
                <a:moveTo>
                  <a:pt x="666072" y="0"/>
                </a:moveTo>
                <a:lnTo>
                  <a:pt x="2060114" y="0"/>
                </a:lnTo>
                <a:lnTo>
                  <a:pt x="2726186" y="1061150"/>
                </a:lnTo>
                <a:lnTo>
                  <a:pt x="0" y="106115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1" name="Freeform 20">
            <a:extLst>
              <a:ext uri="{FF2B5EF4-FFF2-40B4-BE49-F238E27FC236}">
                <a16:creationId xmlns:a16="http://schemas.microsoft.com/office/drawing/2014/main" id="{DAB4E6F4-DE2E-DBD7-3187-5A33D040BCDB}"/>
              </a:ext>
            </a:extLst>
          </p:cNvPr>
          <p:cNvSpPr/>
          <p:nvPr/>
        </p:nvSpPr>
        <p:spPr>
          <a:xfrm>
            <a:off x="7919585" y="4790640"/>
            <a:ext cx="4097434" cy="1031427"/>
          </a:xfrm>
          <a:custGeom>
            <a:avLst/>
            <a:gdLst>
              <a:gd name="csX0" fmla="*/ 647415 w 4097434"/>
              <a:gd name="csY0" fmla="*/ 0 h 1031427"/>
              <a:gd name="csX1" fmla="*/ 3450019 w 4097434"/>
              <a:gd name="csY1" fmla="*/ 0 h 1031427"/>
              <a:gd name="csX2" fmla="*/ 4097434 w 4097434"/>
              <a:gd name="csY2" fmla="*/ 1031427 h 1031427"/>
              <a:gd name="csX3" fmla="*/ 0 w 4097434"/>
              <a:gd name="csY3" fmla="*/ 1031427 h 103142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4097434" h="1031427">
                <a:moveTo>
                  <a:pt x="647415" y="0"/>
                </a:moveTo>
                <a:lnTo>
                  <a:pt x="3450019" y="0"/>
                </a:lnTo>
                <a:lnTo>
                  <a:pt x="4097434" y="1031427"/>
                </a:lnTo>
                <a:lnTo>
                  <a:pt x="0" y="1031427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2" name="Freeform 21">
            <a:extLst>
              <a:ext uri="{FF2B5EF4-FFF2-40B4-BE49-F238E27FC236}">
                <a16:creationId xmlns:a16="http://schemas.microsoft.com/office/drawing/2014/main" id="{3E6DA6C3-B9B7-88E3-DB8B-B0358D5F0BD5}"/>
              </a:ext>
            </a:extLst>
          </p:cNvPr>
          <p:cNvSpPr/>
          <p:nvPr/>
        </p:nvSpPr>
        <p:spPr>
          <a:xfrm>
            <a:off x="9309490" y="2558157"/>
            <a:ext cx="1317624" cy="1049584"/>
          </a:xfrm>
          <a:custGeom>
            <a:avLst/>
            <a:gdLst>
              <a:gd name="csX0" fmla="*/ 658812 w 1317624"/>
              <a:gd name="csY0" fmla="*/ 0 h 1049584"/>
              <a:gd name="csX1" fmla="*/ 1317624 w 1317624"/>
              <a:gd name="csY1" fmla="*/ 1049584 h 1049584"/>
              <a:gd name="csX2" fmla="*/ 0 w 1317624"/>
              <a:gd name="csY2" fmla="*/ 1049584 h 10495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317624" h="1049584">
                <a:moveTo>
                  <a:pt x="658812" y="0"/>
                </a:moveTo>
                <a:lnTo>
                  <a:pt x="1317624" y="1049584"/>
                </a:lnTo>
                <a:lnTo>
                  <a:pt x="0" y="1049584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1721ED4C-E59A-3333-E766-E94D35583AC1}"/>
              </a:ext>
            </a:extLst>
          </p:cNvPr>
          <p:cNvCxnSpPr>
            <a:cxnSpLocks/>
          </p:cNvCxnSpPr>
          <p:nvPr/>
        </p:nvCxnSpPr>
        <p:spPr>
          <a:xfrm>
            <a:off x="5389229" y="3637300"/>
            <a:ext cx="5184000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A7F6B81B-BFF8-C994-4180-CD41A7BF7CCB}"/>
              </a:ext>
            </a:extLst>
          </p:cNvPr>
          <p:cNvCxnSpPr>
            <a:cxnSpLocks/>
          </p:cNvCxnSpPr>
          <p:nvPr/>
        </p:nvCxnSpPr>
        <p:spPr>
          <a:xfrm>
            <a:off x="5389229" y="4755765"/>
            <a:ext cx="5904000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7E439067-F800-B70E-4D94-F1A8C2F3364A}"/>
              </a:ext>
            </a:extLst>
          </p:cNvPr>
          <p:cNvSpPr txBox="1"/>
          <p:nvPr/>
        </p:nvSpPr>
        <p:spPr>
          <a:xfrm>
            <a:off x="5245561" y="2455891"/>
            <a:ext cx="4063929" cy="1123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lang="en-CA" sz="1400" b="1">
                <a:latin typeface="Montserrat" pitchFamily="2" charset="77"/>
              </a:rPr>
              <a:t>Market Mechanisms</a:t>
            </a:r>
          </a:p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CA" sz="1200">
                <a:latin typeface="Montserrat" pitchFamily="2" charset="77"/>
              </a:rPr>
              <a:t>EU-wide book-and-claim system improves liquidity &amp; eliminates location barriers.</a:t>
            </a:r>
          </a:p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CA" sz="1200">
                <a:latin typeface="Montserrat" pitchFamily="2" charset="77"/>
              </a:rPr>
              <a:t>EU-wide SAF auctions drive competition, lower costs, and accelerate deployment at scale.</a:t>
            </a:r>
          </a:p>
        </p:txBody>
      </p:sp>
      <p:pic>
        <p:nvPicPr>
          <p:cNvPr id="6146" name="Picture 2" descr="Group ">
            <a:extLst>
              <a:ext uri="{FF2B5EF4-FFF2-40B4-BE49-F238E27FC236}">
                <a16:creationId xmlns:a16="http://schemas.microsoft.com/office/drawing/2014/main" id="{B5EFC6EA-CF89-0E97-6108-1EDE614FD1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190" y="5471310"/>
            <a:ext cx="472500" cy="47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Shopping cart ">
            <a:extLst>
              <a:ext uri="{FF2B5EF4-FFF2-40B4-BE49-F238E27FC236}">
                <a16:creationId xmlns:a16="http://schemas.microsoft.com/office/drawing/2014/main" id="{C906653C-5644-F544-D6CD-13B5B04AED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duotone>
              <a:schemeClr val="accent3">
                <a:shade val="45000"/>
                <a:satMod val="135000"/>
              </a:schemeClr>
              <a:prstClr val="white"/>
            </a:duotone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58385" y="3035031"/>
            <a:ext cx="419833" cy="4198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 descr="Tag ">
            <a:extLst>
              <a:ext uri="{FF2B5EF4-FFF2-40B4-BE49-F238E27FC236}">
                <a16:creationId xmlns:a16="http://schemas.microsoft.com/office/drawing/2014/main" id="{990B7DD5-407A-DDA0-4A4C-6763CFAE6F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accent3">
                <a:shade val="45000"/>
                <a:satMod val="135000"/>
              </a:schemeClr>
              <a:prstClr val="white"/>
            </a:duotone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89299" y="3903780"/>
            <a:ext cx="558005" cy="558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2" name="Picture 8" descr="Executive ">
            <a:extLst>
              <a:ext uri="{FF2B5EF4-FFF2-40B4-BE49-F238E27FC236}">
                <a16:creationId xmlns:a16="http://schemas.microsoft.com/office/drawing/2014/main" id="{D0B303A3-8670-5F01-3FD7-1B32D9790C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3">
                <a:shade val="45000"/>
                <a:satMod val="135000"/>
              </a:schemeClr>
              <a:prstClr val="white"/>
            </a:duotone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33077" y="4922535"/>
            <a:ext cx="725060" cy="7250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Rectangle 37">
            <a:extLst>
              <a:ext uri="{FF2B5EF4-FFF2-40B4-BE49-F238E27FC236}">
                <a16:creationId xmlns:a16="http://schemas.microsoft.com/office/drawing/2014/main" id="{E6B758A2-3B31-F9AB-2FB4-88E64629BEBB}"/>
              </a:ext>
            </a:extLst>
          </p:cNvPr>
          <p:cNvSpPr/>
          <p:nvPr/>
        </p:nvSpPr>
        <p:spPr>
          <a:xfrm>
            <a:off x="4156319" y="6669315"/>
            <a:ext cx="916029" cy="21434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rtlCol="0" anchor="ctr"/>
          <a:lstStyle/>
          <a:p>
            <a:pPr algn="ctr"/>
            <a:r>
              <a:rPr lang="en-CA" sz="900" kern="0">
                <a:solidFill>
                  <a:schemeClr val="accent3">
                    <a:lumMod val="60000"/>
                    <a:lumOff val="40000"/>
                  </a:schemeClr>
                </a:solidFill>
                <a:latin typeface="Montserrat" pitchFamily="2" charset="77"/>
              </a:rPr>
              <a:t>Emissions</a:t>
            </a:r>
            <a:endParaRPr lang="en-US" sz="900" kern="0">
              <a:solidFill>
                <a:schemeClr val="accent3">
                  <a:lumMod val="60000"/>
                  <a:lumOff val="40000"/>
                </a:schemeClr>
              </a:solidFill>
              <a:latin typeface="Montserrat" pitchFamily="2" charset="77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8BDE44A-8921-C7F8-D089-15238ABB1887}"/>
              </a:ext>
            </a:extLst>
          </p:cNvPr>
          <p:cNvSpPr/>
          <p:nvPr/>
        </p:nvSpPr>
        <p:spPr>
          <a:xfrm>
            <a:off x="5370924" y="6669315"/>
            <a:ext cx="916029" cy="21434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rtlCol="0" anchor="ctr"/>
          <a:lstStyle/>
          <a:p>
            <a:pPr algn="ctr"/>
            <a:r>
              <a:rPr lang="en-CA" sz="900" kern="0">
                <a:solidFill>
                  <a:schemeClr val="accent3">
                    <a:lumMod val="60000"/>
                    <a:lumOff val="40000"/>
                  </a:schemeClr>
                </a:solidFill>
                <a:latin typeface="Montserrat" pitchFamily="2" charset="77"/>
              </a:rPr>
              <a:t>Costs</a:t>
            </a:r>
            <a:endParaRPr lang="en-US" sz="900" kern="0">
              <a:solidFill>
                <a:schemeClr val="accent3">
                  <a:lumMod val="60000"/>
                  <a:lumOff val="40000"/>
                </a:schemeClr>
              </a:solidFill>
              <a:latin typeface="Montserrat" pitchFamily="2" charset="77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E61FA074-C58F-BEE2-3824-363267CDD188}"/>
              </a:ext>
            </a:extLst>
          </p:cNvPr>
          <p:cNvSpPr/>
          <p:nvPr/>
        </p:nvSpPr>
        <p:spPr>
          <a:xfrm>
            <a:off x="6585530" y="6669315"/>
            <a:ext cx="1450152" cy="21434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rtlCol="0" anchor="ctr"/>
          <a:lstStyle/>
          <a:p>
            <a:pPr algn="ctr"/>
            <a:r>
              <a:rPr lang="en-CA" sz="900" b="1" kern="0">
                <a:solidFill>
                  <a:schemeClr val="accent3"/>
                </a:solidFill>
                <a:latin typeface="Montserrat" pitchFamily="2" charset="77"/>
              </a:rPr>
              <a:t>Policy Implications</a:t>
            </a:r>
            <a:endParaRPr lang="en-US" sz="900" b="1" kern="0">
              <a:solidFill>
                <a:schemeClr val="accent3"/>
              </a:solidFill>
              <a:latin typeface="Montserrat" pitchFamily="2" charset="77"/>
            </a:endParaRP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0722DFEF-1F07-3399-7368-126C65BA4BA8}"/>
              </a:ext>
            </a:extLst>
          </p:cNvPr>
          <p:cNvCxnSpPr>
            <a:cxnSpLocks/>
          </p:cNvCxnSpPr>
          <p:nvPr/>
        </p:nvCxnSpPr>
        <p:spPr>
          <a:xfrm>
            <a:off x="5221636" y="6704487"/>
            <a:ext cx="0" cy="144000"/>
          </a:xfrm>
          <a:prstGeom prst="line">
            <a:avLst/>
          </a:prstGeom>
          <a:ln w="12700"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BEF1CCEA-9C43-2DD4-9428-CBF1615C0A39}"/>
              </a:ext>
            </a:extLst>
          </p:cNvPr>
          <p:cNvCxnSpPr>
            <a:cxnSpLocks/>
          </p:cNvCxnSpPr>
          <p:nvPr/>
        </p:nvCxnSpPr>
        <p:spPr>
          <a:xfrm>
            <a:off x="6436241" y="6704487"/>
            <a:ext cx="0" cy="144000"/>
          </a:xfrm>
          <a:prstGeom prst="line">
            <a:avLst/>
          </a:prstGeom>
          <a:ln w="12700"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67937BC-0F9D-9536-1A87-8DC3E8935BB0}"/>
              </a:ext>
            </a:extLst>
          </p:cNvPr>
          <p:cNvSpPr txBox="1"/>
          <p:nvPr/>
        </p:nvSpPr>
        <p:spPr>
          <a:xfrm>
            <a:off x="11973262" y="6680073"/>
            <a:ext cx="22949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900" dirty="0">
                <a:solidFill>
                  <a:schemeClr val="accent3">
                    <a:lumMod val="50000"/>
                  </a:schemeClr>
                </a:solidFill>
                <a:latin typeface="Montserrat" pitchFamily="2" charset="77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718651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565309-C3F1-C178-544A-F8DE212036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Aviation Photos, Download The BEST Free Aviation Stock Photos &amp; HD Images">
            <a:extLst>
              <a:ext uri="{FF2B5EF4-FFF2-40B4-BE49-F238E27FC236}">
                <a16:creationId xmlns:a16="http://schemas.microsoft.com/office/drawing/2014/main" id="{DEF20EA1-3262-C2AD-6FC8-CCE830DB1F8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483" b="3871"/>
          <a:stretch>
            <a:fillRect/>
          </a:stretch>
        </p:blipFill>
        <p:spPr bwMode="auto">
          <a:xfrm flipH="1">
            <a:off x="-30346" y="0"/>
            <a:ext cx="1225005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9049C59-45FA-8EE8-A7B7-7E3F5BA177F9}"/>
              </a:ext>
            </a:extLst>
          </p:cNvPr>
          <p:cNvSpPr/>
          <p:nvPr/>
        </p:nvSpPr>
        <p:spPr>
          <a:xfrm>
            <a:off x="-30346" y="13808"/>
            <a:ext cx="12250056" cy="6858000"/>
          </a:xfrm>
          <a:prstGeom prst="rect">
            <a:avLst/>
          </a:prstGeom>
          <a:gradFill>
            <a:gsLst>
              <a:gs pos="0">
                <a:schemeClr val="accent3">
                  <a:lumMod val="60000"/>
                  <a:lumOff val="40000"/>
                  <a:alpha val="25000"/>
                </a:schemeClr>
              </a:gs>
              <a:gs pos="50000">
                <a:schemeClr val="bg2">
                  <a:alpha val="52848"/>
                </a:schemeClr>
              </a:gs>
              <a:gs pos="100000">
                <a:schemeClr val="tx1">
                  <a:alpha val="65884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E525947-B5AA-6E60-F593-A3164F354052}"/>
              </a:ext>
            </a:extLst>
          </p:cNvPr>
          <p:cNvSpPr txBox="1"/>
          <p:nvPr/>
        </p:nvSpPr>
        <p:spPr>
          <a:xfrm>
            <a:off x="390208" y="3293180"/>
            <a:ext cx="9784080" cy="1323439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Montserrat" pitchFamily="2" charset="77"/>
                <a:ea typeface="Helvetica Neue" panose="02000503000000020004" pitchFamily="2" charset="0"/>
                <a:cs typeface="Segoe UI Semibold" panose="020B0702040204020203" pitchFamily="34" charset="0"/>
              </a:rPr>
              <a:t>Powering Sustainable Aviation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0" i="0" kern="0">
                <a:solidFill>
                  <a:schemeClr val="tx2"/>
                </a:solidFill>
                <a:latin typeface="Montserrat" pitchFamily="2" charset="77"/>
                <a:ea typeface="Helvetica Neue" panose="02000503000000020004" pitchFamily="2" charset="0"/>
                <a:cs typeface="Segoe UI Semibold" panose="020B0702040204020203" pitchFamily="34" charset="0"/>
              </a:rPr>
              <a:t>Q&amp;A</a:t>
            </a:r>
            <a:endParaRPr kumimoji="0" lang="en-US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Montserrat" pitchFamily="2" charset="77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C80BE63-3DAD-B4F4-385F-A89D11E2294D}"/>
              </a:ext>
            </a:extLst>
          </p:cNvPr>
          <p:cNvSpPr/>
          <p:nvPr/>
        </p:nvSpPr>
        <p:spPr>
          <a:xfrm>
            <a:off x="0" y="5778000"/>
            <a:ext cx="12192000" cy="1080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accent3"/>
              </a:solidFill>
              <a:effectLst/>
              <a:uLnTx/>
              <a:uFillTx/>
              <a:latin typeface="Montserrat" pitchFamily="2" charset="77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24B72F8-2689-A0AD-8B45-009E2D73D453}"/>
              </a:ext>
            </a:extLst>
          </p:cNvPr>
          <p:cNvSpPr/>
          <p:nvPr/>
        </p:nvSpPr>
        <p:spPr>
          <a:xfrm>
            <a:off x="5257800" y="5235782"/>
            <a:ext cx="1080000" cy="1080000"/>
          </a:xfrm>
          <a:prstGeom prst="ellipse">
            <a:avLst/>
          </a:prstGeom>
          <a:solidFill>
            <a:schemeClr val="bg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 pitchFamily="2" charset="77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5681D98-74D6-EA81-4AAE-E429668527F6}"/>
              </a:ext>
            </a:extLst>
          </p:cNvPr>
          <p:cNvSpPr/>
          <p:nvPr/>
        </p:nvSpPr>
        <p:spPr>
          <a:xfrm>
            <a:off x="9196968" y="5235782"/>
            <a:ext cx="1080000" cy="1080000"/>
          </a:xfrm>
          <a:prstGeom prst="ellipse">
            <a:avLst/>
          </a:prstGeom>
          <a:solidFill>
            <a:schemeClr val="bg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 pitchFamily="2" charset="77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A524B43E-20D9-226A-67EC-975F8BC29D5C}"/>
              </a:ext>
            </a:extLst>
          </p:cNvPr>
          <p:cNvSpPr/>
          <p:nvPr/>
        </p:nvSpPr>
        <p:spPr>
          <a:xfrm>
            <a:off x="10510024" y="5235782"/>
            <a:ext cx="1080000" cy="1080000"/>
          </a:xfrm>
          <a:prstGeom prst="ellipse">
            <a:avLst/>
          </a:prstGeom>
          <a:solidFill>
            <a:schemeClr val="bg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 pitchFamily="2" charset="77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425D01F-87F8-D818-CAB0-FBB1DD707697}"/>
              </a:ext>
            </a:extLst>
          </p:cNvPr>
          <p:cNvSpPr/>
          <p:nvPr/>
        </p:nvSpPr>
        <p:spPr>
          <a:xfrm>
            <a:off x="7883912" y="5235782"/>
            <a:ext cx="1080000" cy="1080000"/>
          </a:xfrm>
          <a:prstGeom prst="ellipse">
            <a:avLst/>
          </a:prstGeom>
          <a:solidFill>
            <a:schemeClr val="bg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 pitchFamily="2" charset="7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BFC9C5D-5853-5F68-208C-A41D018216D6}"/>
              </a:ext>
            </a:extLst>
          </p:cNvPr>
          <p:cNvSpPr txBox="1"/>
          <p:nvPr/>
        </p:nvSpPr>
        <p:spPr>
          <a:xfrm>
            <a:off x="10510024" y="6352401"/>
            <a:ext cx="1080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Montserrat" pitchFamily="2" charset="77"/>
                <a:ea typeface="Helvetica Neue" panose="02000503000000020004" pitchFamily="2" charset="0"/>
                <a:cs typeface="Helvetica Neue" panose="02000503000000020004" pitchFamily="2" charset="0"/>
              </a:rPr>
              <a:t>Bassem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21D3584-EFD9-D03F-1BA8-ECC1D9E5B078}"/>
              </a:ext>
            </a:extLst>
          </p:cNvPr>
          <p:cNvSpPr txBox="1"/>
          <p:nvPr/>
        </p:nvSpPr>
        <p:spPr>
          <a:xfrm>
            <a:off x="5257800" y="6352401"/>
            <a:ext cx="1080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Montserrat" pitchFamily="2" charset="77"/>
                <a:ea typeface="Helvetica Neue" panose="02000503000000020004" pitchFamily="2" charset="0"/>
                <a:cs typeface="Helvetica Neue" panose="02000503000000020004" pitchFamily="2" charset="0"/>
              </a:rPr>
              <a:t>Nicolas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3D177F1-79C7-94FF-0675-8792052877F8}"/>
              </a:ext>
            </a:extLst>
          </p:cNvPr>
          <p:cNvSpPr txBox="1"/>
          <p:nvPr/>
        </p:nvSpPr>
        <p:spPr>
          <a:xfrm>
            <a:off x="6570856" y="6352401"/>
            <a:ext cx="1080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Montserrat" pitchFamily="2" charset="77"/>
                <a:ea typeface="Helvetica Neue" panose="02000503000000020004" pitchFamily="2" charset="0"/>
                <a:cs typeface="Helvetica Neue" panose="02000503000000020004" pitchFamily="2" charset="0"/>
              </a:rPr>
              <a:t>Tito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B9CD829-DE56-F5B8-A264-7B517D226076}"/>
              </a:ext>
            </a:extLst>
          </p:cNvPr>
          <p:cNvSpPr txBox="1"/>
          <p:nvPr/>
        </p:nvSpPr>
        <p:spPr>
          <a:xfrm>
            <a:off x="7883912" y="6352401"/>
            <a:ext cx="1080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0">
                <a:solidFill>
                  <a:schemeClr val="tx2"/>
                </a:solidFill>
                <a:latin typeface="Montserrat" pitchFamily="2" charset="77"/>
                <a:ea typeface="Helvetica Neue" panose="02000503000000020004" pitchFamily="2" charset="0"/>
                <a:cs typeface="Helvetica Neue" panose="02000503000000020004" pitchFamily="2" charset="0"/>
              </a:rPr>
              <a:t>Theo</a:t>
            </a:r>
            <a:endParaRPr kumimoji="0" lang="en-US" sz="12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Montserrat" pitchFamily="2" charset="77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4D3594E-F7E1-1B4E-8EDB-DCD4FF863CE8}"/>
              </a:ext>
            </a:extLst>
          </p:cNvPr>
          <p:cNvSpPr txBox="1"/>
          <p:nvPr/>
        </p:nvSpPr>
        <p:spPr>
          <a:xfrm>
            <a:off x="9196968" y="6352401"/>
            <a:ext cx="1080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0">
                <a:solidFill>
                  <a:schemeClr val="tx2"/>
                </a:solidFill>
                <a:latin typeface="Montserrat" pitchFamily="2" charset="77"/>
                <a:ea typeface="Helvetica Neue" panose="02000503000000020004" pitchFamily="2" charset="0"/>
                <a:cs typeface="Helvetica Neue" panose="02000503000000020004" pitchFamily="2" charset="0"/>
              </a:rPr>
              <a:t>Pablo</a:t>
            </a:r>
            <a:endParaRPr kumimoji="0" lang="en-US" sz="12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Montserrat" pitchFamily="2" charset="77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FE635C-84B5-B104-8C09-C1B8EC3BE687}"/>
              </a:ext>
            </a:extLst>
          </p:cNvPr>
          <p:cNvSpPr txBox="1"/>
          <p:nvPr/>
        </p:nvSpPr>
        <p:spPr>
          <a:xfrm>
            <a:off x="372552" y="6023394"/>
            <a:ext cx="39355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Montserrat" pitchFamily="2" charset="77"/>
                <a:ea typeface="Helvetica Neue" panose="02000503000000020004" pitchFamily="2" charset="0"/>
                <a:cs typeface="Helvetica Neue" panose="02000503000000020004" pitchFamily="2" charset="0"/>
              </a:rPr>
              <a:t>IEU  Sustainability </a:t>
            </a:r>
            <a:r>
              <a:rPr kumimoji="0" lang="en-US" sz="1600" b="1" i="0" u="none" strike="noStrike" kern="0" cap="none" spc="0" normalizeH="0" baseline="0" noProof="0" dirty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Montserrat" pitchFamily="2" charset="77"/>
                <a:ea typeface="Helvetica Neue" panose="02000503000000020004" pitchFamily="2" charset="0"/>
                <a:cs typeface="Helvetica Neue" panose="02000503000000020004" pitchFamily="2" charset="0"/>
              </a:rPr>
              <a:t>Datathon</a:t>
            </a:r>
            <a:endParaRPr kumimoji="0" lang="en-US" sz="16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Montserrat" pitchFamily="2" charset="77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lvl="0">
              <a:defRPr/>
            </a:pPr>
            <a:r>
              <a:rPr lang="en-US" sz="1600" b="1" kern="0" dirty="0">
                <a:solidFill>
                  <a:schemeClr val="accent3"/>
                </a:solidFill>
                <a:latin typeface="Montserrat" pitchFamily="2" charset="77"/>
                <a:ea typeface="Helvetica Neue" panose="02000503000000020004" pitchFamily="2" charset="0"/>
                <a:cs typeface="Helvetica Neue" panose="02000503000000020004" pitchFamily="2" charset="0"/>
              </a:rPr>
              <a:t>7th Edition: December 2025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51644D9-936A-81D8-2149-8367EA86C60A}"/>
              </a:ext>
            </a:extLst>
          </p:cNvPr>
          <p:cNvSpPr/>
          <p:nvPr/>
        </p:nvSpPr>
        <p:spPr>
          <a:xfrm>
            <a:off x="6570856" y="5235782"/>
            <a:ext cx="1080000" cy="1080000"/>
          </a:xfrm>
          <a:prstGeom prst="ellipse">
            <a:avLst/>
          </a:prstGeom>
          <a:solidFill>
            <a:schemeClr val="bg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 pitchFamily="2" charset="77"/>
            </a:endParaRPr>
          </a:p>
        </p:txBody>
      </p:sp>
      <p:pic>
        <p:nvPicPr>
          <p:cNvPr id="23" name="Picture 2" descr="Iata Logo PNG Vectors Free Download">
            <a:extLst>
              <a:ext uri="{FF2B5EF4-FFF2-40B4-BE49-F238E27FC236}">
                <a16:creationId xmlns:a16="http://schemas.microsoft.com/office/drawing/2014/main" id="{C7984D2D-FFB8-9062-FC0E-966EDD0C67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72627" y="-54430"/>
            <a:ext cx="762001" cy="762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Profile image">
            <a:extLst>
              <a:ext uri="{FF2B5EF4-FFF2-40B4-BE49-F238E27FC236}">
                <a16:creationId xmlns:a16="http://schemas.microsoft.com/office/drawing/2014/main" id="{8758B251-1BD9-65CC-A9EA-7051D2EB45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2248" y="5259639"/>
            <a:ext cx="1044000" cy="1044000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Profile image">
            <a:extLst>
              <a:ext uri="{FF2B5EF4-FFF2-40B4-BE49-F238E27FC236}">
                <a16:creationId xmlns:a16="http://schemas.microsoft.com/office/drawing/2014/main" id="{80B44583-52F7-5EFF-1FC3-3AA8664477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3559" y="5259639"/>
            <a:ext cx="1044000" cy="1044000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Profile image">
            <a:extLst>
              <a:ext uri="{FF2B5EF4-FFF2-40B4-BE49-F238E27FC236}">
                <a16:creationId xmlns:a16="http://schemas.microsoft.com/office/drawing/2014/main" id="{D61B1429-7A1E-9C64-B4C0-D4383D945B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8856" y="5259639"/>
            <a:ext cx="1044000" cy="1044000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Profile image">
            <a:extLst>
              <a:ext uri="{FF2B5EF4-FFF2-40B4-BE49-F238E27FC236}">
                <a16:creationId xmlns:a16="http://schemas.microsoft.com/office/drawing/2014/main" id="{794C3636-1C0A-094D-2043-6A80E96AAA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14968" y="5259639"/>
            <a:ext cx="1044000" cy="1044000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4" name="Picture 12" descr="Profile image">
            <a:extLst>
              <a:ext uri="{FF2B5EF4-FFF2-40B4-BE49-F238E27FC236}">
                <a16:creationId xmlns:a16="http://schemas.microsoft.com/office/drawing/2014/main" id="{0D5DB7A5-F563-F37E-5898-A2B6CA8AA43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453" t="16068" r="23930" b="31552"/>
          <a:stretch>
            <a:fillRect/>
          </a:stretch>
        </p:blipFill>
        <p:spPr bwMode="auto">
          <a:xfrm>
            <a:off x="10528024" y="5259639"/>
            <a:ext cx="1044000" cy="1044000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77741289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4D4F9A-0F73-731D-B26D-25826963B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Aviation Photos, Download The BEST Free Aviation Stock Photos &amp; HD Images">
            <a:extLst>
              <a:ext uri="{FF2B5EF4-FFF2-40B4-BE49-F238E27FC236}">
                <a16:creationId xmlns:a16="http://schemas.microsoft.com/office/drawing/2014/main" id="{7E449C8A-283A-95FD-A901-2CCD6380377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483" b="3871"/>
          <a:stretch>
            <a:fillRect/>
          </a:stretch>
        </p:blipFill>
        <p:spPr bwMode="auto">
          <a:xfrm flipH="1">
            <a:off x="-30346" y="0"/>
            <a:ext cx="1225005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9ECFC80-C376-74A7-7C0C-935DED89D86B}"/>
              </a:ext>
            </a:extLst>
          </p:cNvPr>
          <p:cNvSpPr/>
          <p:nvPr/>
        </p:nvSpPr>
        <p:spPr>
          <a:xfrm>
            <a:off x="-30346" y="13808"/>
            <a:ext cx="12250056" cy="6858000"/>
          </a:xfrm>
          <a:prstGeom prst="rect">
            <a:avLst/>
          </a:prstGeom>
          <a:gradFill>
            <a:gsLst>
              <a:gs pos="0">
                <a:schemeClr val="accent3">
                  <a:lumMod val="60000"/>
                  <a:lumOff val="40000"/>
                  <a:alpha val="25000"/>
                </a:schemeClr>
              </a:gs>
              <a:gs pos="50000">
                <a:schemeClr val="bg2">
                  <a:alpha val="52848"/>
                </a:schemeClr>
              </a:gs>
              <a:gs pos="100000">
                <a:schemeClr val="tx1">
                  <a:alpha val="65884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F58AB6A-D07E-4093-4A56-C454A48B3A39}"/>
              </a:ext>
            </a:extLst>
          </p:cNvPr>
          <p:cNvSpPr txBox="1"/>
          <p:nvPr/>
        </p:nvSpPr>
        <p:spPr>
          <a:xfrm>
            <a:off x="390208" y="3293180"/>
            <a:ext cx="9784080" cy="707886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Montserrat" pitchFamily="2" charset="77"/>
                <a:ea typeface="Helvetica Neue" panose="02000503000000020004" pitchFamily="2" charset="0"/>
                <a:cs typeface="Segoe UI Semibold" panose="020B0702040204020203" pitchFamily="34" charset="0"/>
              </a:rPr>
              <a:t>Appendix</a:t>
            </a:r>
            <a:endParaRPr kumimoji="0" lang="en-US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Montserrat" pitchFamily="2" charset="77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pic>
        <p:nvPicPr>
          <p:cNvPr id="23" name="Picture 2" descr="Iata Logo PNG Vectors Free Download">
            <a:extLst>
              <a:ext uri="{FF2B5EF4-FFF2-40B4-BE49-F238E27FC236}">
                <a16:creationId xmlns:a16="http://schemas.microsoft.com/office/drawing/2014/main" id="{3C78465C-D38B-1367-5970-A9A2FECDF7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72627" y="-54430"/>
            <a:ext cx="762001" cy="762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05712565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6961B5-E867-0B2B-1EF8-AB0A534D59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graph of a graph&#10;&#10;AI-generated content may be incorrect.">
            <a:extLst>
              <a:ext uri="{FF2B5EF4-FFF2-40B4-BE49-F238E27FC236}">
                <a16:creationId xmlns:a16="http://schemas.microsoft.com/office/drawing/2014/main" id="{2C10439D-BC4B-C3AB-7C86-8DDFF4A636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6166" y="1227952"/>
            <a:ext cx="5692550" cy="4240947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286FE03E-0587-621C-C30C-0A3B8C2AFB4A}"/>
              </a:ext>
            </a:extLst>
          </p:cNvPr>
          <p:cNvSpPr txBox="1"/>
          <p:nvPr/>
        </p:nvSpPr>
        <p:spPr>
          <a:xfrm>
            <a:off x="390208" y="225889"/>
            <a:ext cx="11007133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Montserrat" pitchFamily="2" charset="77"/>
                <a:ea typeface="Helvetica Neue" panose="02000503000000020004" pitchFamily="2" charset="0"/>
                <a:cs typeface="Segoe UI Semibold" panose="020B0702040204020203" pitchFamily="34" charset="0"/>
              </a:rPr>
              <a:t>Appendix</a:t>
            </a:r>
            <a:r>
              <a:rPr kumimoji="0" lang="en-US" sz="1900" b="1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Montserrat" pitchFamily="2" charset="77"/>
                <a:ea typeface="Helvetica Neue" panose="02000503000000020004" pitchFamily="2" charset="0"/>
                <a:cs typeface="Segoe UI Semibold" panose="020B0702040204020203" pitchFamily="34" charset="0"/>
              </a:rPr>
              <a:t>.1</a:t>
            </a:r>
            <a:endParaRPr kumimoji="0" lang="en-US" sz="1900" i="0" u="none" strike="noStrike" kern="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Montserrat" pitchFamily="2" charset="77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pic>
        <p:nvPicPr>
          <p:cNvPr id="29" name="Picture 2" descr="Iata Logo PNG Vectors Free Download">
            <a:extLst>
              <a:ext uri="{FF2B5EF4-FFF2-40B4-BE49-F238E27FC236}">
                <a16:creationId xmlns:a16="http://schemas.microsoft.com/office/drawing/2014/main" id="{24393C53-0356-11B6-D8AF-BCA061C79D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97341" y="-54430"/>
            <a:ext cx="762001" cy="762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49F7C37-1365-DD18-DEDA-CAF1CF24FE7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8962"/>
          <a:stretch>
            <a:fillRect/>
          </a:stretch>
        </p:blipFill>
        <p:spPr>
          <a:xfrm>
            <a:off x="683284" y="2103337"/>
            <a:ext cx="5014752" cy="2490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40726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D1A2D7-A517-91FD-54BA-6F01E0346C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589F3552-8A55-2A07-9AD7-AAC1ACCDC8D2}"/>
              </a:ext>
            </a:extLst>
          </p:cNvPr>
          <p:cNvSpPr txBox="1"/>
          <p:nvPr/>
        </p:nvSpPr>
        <p:spPr>
          <a:xfrm>
            <a:off x="390208" y="225889"/>
            <a:ext cx="11007133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Montserrat" pitchFamily="2" charset="77"/>
                <a:ea typeface="Helvetica Neue" panose="02000503000000020004" pitchFamily="2" charset="0"/>
                <a:cs typeface="Segoe UI Semibold" panose="020B0702040204020203" pitchFamily="34" charset="0"/>
              </a:rPr>
              <a:t>Appendix</a:t>
            </a:r>
            <a:r>
              <a:rPr kumimoji="0" lang="en-US" sz="1900" b="1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Montserrat" pitchFamily="2" charset="77"/>
                <a:ea typeface="Helvetica Neue" panose="02000503000000020004" pitchFamily="2" charset="0"/>
                <a:cs typeface="Segoe UI Semibold" panose="020B0702040204020203" pitchFamily="34" charset="0"/>
              </a:rPr>
              <a:t>.2</a:t>
            </a:r>
            <a:endParaRPr kumimoji="0" lang="en-US" sz="1900" i="0" u="none" strike="noStrike" kern="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Montserrat" pitchFamily="2" charset="77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pic>
        <p:nvPicPr>
          <p:cNvPr id="29" name="Picture 2" descr="Iata Logo PNG Vectors Free Download">
            <a:extLst>
              <a:ext uri="{FF2B5EF4-FFF2-40B4-BE49-F238E27FC236}">
                <a16:creationId xmlns:a16="http://schemas.microsoft.com/office/drawing/2014/main" id="{082C3C50-9618-32F6-DE12-A6F8600C29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97341" y="-54430"/>
            <a:ext cx="762001" cy="762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5BA2D2F-7EB1-A42F-7711-3886E13DD9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615" y="2150797"/>
            <a:ext cx="5357159" cy="29220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35BD855-79F7-80BB-8EBD-6CB6B1462B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8228" y="2150796"/>
            <a:ext cx="5357159" cy="2922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2847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58BBE9-A7A7-5D6E-4115-6C149D1A5B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A83E1111-26A2-9FBA-2C08-55B0FE766421}"/>
              </a:ext>
            </a:extLst>
          </p:cNvPr>
          <p:cNvSpPr txBox="1"/>
          <p:nvPr/>
        </p:nvSpPr>
        <p:spPr>
          <a:xfrm>
            <a:off x="390208" y="225889"/>
            <a:ext cx="11007133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Montserrat" pitchFamily="2" charset="77"/>
                <a:ea typeface="Helvetica Neue" panose="02000503000000020004" pitchFamily="2" charset="0"/>
                <a:cs typeface="Segoe UI Semibold" panose="020B0702040204020203" pitchFamily="34" charset="0"/>
              </a:rPr>
              <a:t>Appendix</a:t>
            </a:r>
            <a:r>
              <a:rPr kumimoji="0" lang="en-US" sz="1900" b="1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Montserrat" pitchFamily="2" charset="77"/>
                <a:ea typeface="Helvetica Neue" panose="02000503000000020004" pitchFamily="2" charset="0"/>
                <a:cs typeface="Segoe UI Semibold" panose="020B0702040204020203" pitchFamily="34" charset="0"/>
              </a:rPr>
              <a:t>.3</a:t>
            </a:r>
            <a:endParaRPr kumimoji="0" lang="en-US" sz="1900" i="0" u="none" strike="noStrike" kern="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Montserrat" pitchFamily="2" charset="77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pic>
        <p:nvPicPr>
          <p:cNvPr id="29" name="Picture 2" descr="Iata Logo PNG Vectors Free Download">
            <a:extLst>
              <a:ext uri="{FF2B5EF4-FFF2-40B4-BE49-F238E27FC236}">
                <a16:creationId xmlns:a16="http://schemas.microsoft.com/office/drawing/2014/main" id="{7A64BB1A-2DDB-5F30-48D2-DF5EA0EF42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97341" y="-54430"/>
            <a:ext cx="762001" cy="762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C9055674-9A87-800F-B917-EBF9AEB189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8296" y="1079343"/>
            <a:ext cx="8615408" cy="4699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54382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990958-C77F-4B9E-B8E5-559FA1AB48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46FEBC4F-9A64-DC6B-494F-3A7680CD0A4D}"/>
              </a:ext>
            </a:extLst>
          </p:cNvPr>
          <p:cNvSpPr txBox="1"/>
          <p:nvPr/>
        </p:nvSpPr>
        <p:spPr>
          <a:xfrm>
            <a:off x="390208" y="225889"/>
            <a:ext cx="11007133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Montserrat" pitchFamily="2" charset="77"/>
                <a:ea typeface="Helvetica Neue" panose="02000503000000020004" pitchFamily="2" charset="0"/>
                <a:cs typeface="Segoe UI Semibold" panose="020B0702040204020203" pitchFamily="34" charset="0"/>
              </a:rPr>
              <a:t>Appendix</a:t>
            </a:r>
            <a:r>
              <a:rPr kumimoji="0" lang="en-US" sz="1900" b="1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Montserrat" pitchFamily="2" charset="77"/>
                <a:ea typeface="Helvetica Neue" panose="02000503000000020004" pitchFamily="2" charset="0"/>
                <a:cs typeface="Segoe UI Semibold" panose="020B0702040204020203" pitchFamily="34" charset="0"/>
              </a:rPr>
              <a:t>.4</a:t>
            </a:r>
            <a:endParaRPr kumimoji="0" lang="en-US" sz="1900" i="0" u="none" strike="noStrike" kern="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Montserrat" pitchFamily="2" charset="77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pic>
        <p:nvPicPr>
          <p:cNvPr id="29" name="Picture 2" descr="Iata Logo PNG Vectors Free Download">
            <a:extLst>
              <a:ext uri="{FF2B5EF4-FFF2-40B4-BE49-F238E27FC236}">
                <a16:creationId xmlns:a16="http://schemas.microsoft.com/office/drawing/2014/main" id="{3E3ABCEA-484B-EA64-A824-3D7A58BCAF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97341" y="-54430"/>
            <a:ext cx="762001" cy="762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6E5EAD2-26AE-E4C5-BF66-423152D9A1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6324" y="761904"/>
            <a:ext cx="9779352" cy="5334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9891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2162E9-36AF-091A-4B22-B95E8D40DB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9E866BF8-C394-ECC1-CF4F-4DEF9C8456BE}"/>
              </a:ext>
            </a:extLst>
          </p:cNvPr>
          <p:cNvSpPr txBox="1"/>
          <p:nvPr/>
        </p:nvSpPr>
        <p:spPr>
          <a:xfrm>
            <a:off x="390208" y="225889"/>
            <a:ext cx="11007133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Montserrat" pitchFamily="2" charset="77"/>
                <a:ea typeface="Helvetica Neue" panose="02000503000000020004" pitchFamily="2" charset="0"/>
                <a:cs typeface="Segoe UI Semibold" panose="020B0702040204020203" pitchFamily="34" charset="0"/>
              </a:rPr>
              <a:t>Appendix</a:t>
            </a:r>
            <a:r>
              <a:rPr kumimoji="0" lang="en-US" sz="1900" b="1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Montserrat" pitchFamily="2" charset="77"/>
                <a:ea typeface="Helvetica Neue" panose="02000503000000020004" pitchFamily="2" charset="0"/>
                <a:cs typeface="Segoe UI Semibold" panose="020B0702040204020203" pitchFamily="34" charset="0"/>
              </a:rPr>
              <a:t>.5</a:t>
            </a:r>
            <a:endParaRPr kumimoji="0" lang="en-US" sz="1900" i="0" u="none" strike="noStrike" kern="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Montserrat" pitchFamily="2" charset="77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pic>
        <p:nvPicPr>
          <p:cNvPr id="29" name="Picture 2" descr="Iata Logo PNG Vectors Free Download">
            <a:extLst>
              <a:ext uri="{FF2B5EF4-FFF2-40B4-BE49-F238E27FC236}">
                <a16:creationId xmlns:a16="http://schemas.microsoft.com/office/drawing/2014/main" id="{E97C5B67-73A8-1EF7-D296-D2F4F0897C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97341" y="-54430"/>
            <a:ext cx="762001" cy="762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38FBC31-6933-D4EA-A28C-DEFDC1AC68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0247" y="824044"/>
            <a:ext cx="9551507" cy="5209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20019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86E25-579F-123D-23A4-3700E6B70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C8519AA-7AC5-52A8-C115-07395123F2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086" y="2108499"/>
            <a:ext cx="5380914" cy="2935044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3F4F0B35-C39F-2916-5DAD-FFEE786BA608}"/>
              </a:ext>
            </a:extLst>
          </p:cNvPr>
          <p:cNvSpPr txBox="1"/>
          <p:nvPr/>
        </p:nvSpPr>
        <p:spPr>
          <a:xfrm>
            <a:off x="390208" y="225889"/>
            <a:ext cx="11007133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Montserrat" pitchFamily="2" charset="77"/>
                <a:ea typeface="Helvetica Neue" panose="02000503000000020004" pitchFamily="2" charset="0"/>
                <a:cs typeface="Segoe UI Semibold" panose="020B0702040204020203" pitchFamily="34" charset="0"/>
              </a:rPr>
              <a:t>Appendix</a:t>
            </a:r>
            <a:r>
              <a:rPr kumimoji="0" lang="en-US" sz="1900" b="1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Montserrat" pitchFamily="2" charset="77"/>
                <a:ea typeface="Helvetica Neue" panose="02000503000000020004" pitchFamily="2" charset="0"/>
                <a:cs typeface="Segoe UI Semibold" panose="020B0702040204020203" pitchFamily="34" charset="0"/>
              </a:rPr>
              <a:t>.6</a:t>
            </a:r>
            <a:endParaRPr kumimoji="0" lang="en-US" sz="1900" i="0" u="none" strike="noStrike" kern="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Montserrat" pitchFamily="2" charset="77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pic>
        <p:nvPicPr>
          <p:cNvPr id="29" name="Picture 2" descr="Iata Logo PNG Vectors Free Download">
            <a:extLst>
              <a:ext uri="{FF2B5EF4-FFF2-40B4-BE49-F238E27FC236}">
                <a16:creationId xmlns:a16="http://schemas.microsoft.com/office/drawing/2014/main" id="{D924E640-F3EB-F0B9-301C-6D7D208522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97341" y="-54430"/>
            <a:ext cx="762001" cy="762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7658228-5410-80F7-6CD4-42C8E27B8F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4569" y="2108499"/>
            <a:ext cx="5380914" cy="2935044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F0824073-A066-4AAE-6EF7-E1ECB003709B}"/>
              </a:ext>
            </a:extLst>
          </p:cNvPr>
          <p:cNvSpPr/>
          <p:nvPr/>
        </p:nvSpPr>
        <p:spPr>
          <a:xfrm>
            <a:off x="3291840" y="5272960"/>
            <a:ext cx="318471" cy="129092"/>
          </a:xfrm>
          <a:prstGeom prst="rect">
            <a:avLst/>
          </a:prstGeom>
          <a:solidFill>
            <a:srgbClr val="1BC47A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77CD112-991C-25CE-4B57-445FAA3EAEC9}"/>
              </a:ext>
            </a:extLst>
          </p:cNvPr>
          <p:cNvSpPr/>
          <p:nvPr/>
        </p:nvSpPr>
        <p:spPr>
          <a:xfrm>
            <a:off x="3291840" y="5582438"/>
            <a:ext cx="318471" cy="129092"/>
          </a:xfrm>
          <a:prstGeom prst="rect">
            <a:avLst/>
          </a:prstGeom>
          <a:solidFill>
            <a:srgbClr val="8EC41B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9DFB003-52A0-6770-016A-927E490C7301}"/>
              </a:ext>
            </a:extLst>
          </p:cNvPr>
          <p:cNvSpPr txBox="1"/>
          <p:nvPr/>
        </p:nvSpPr>
        <p:spPr>
          <a:xfrm>
            <a:off x="3638998" y="5206701"/>
            <a:ext cx="191486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100" dirty="0">
                <a:latin typeface="Montserrat" pitchFamily="2" charset="77"/>
              </a:rPr>
              <a:t>CO</a:t>
            </a:r>
            <a:r>
              <a:rPr lang="en-US" sz="1100" baseline="-25000" dirty="0">
                <a:latin typeface="Montserrat" pitchFamily="2" charset="77"/>
              </a:rPr>
              <a:t>2 </a:t>
            </a:r>
            <a:r>
              <a:rPr lang="en-US" sz="1100" dirty="0">
                <a:latin typeface="Montserrat" pitchFamily="2" charset="77"/>
              </a:rPr>
              <a:t>avoided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492C07E-0C1E-94A6-CB3B-4B044F71B548}"/>
              </a:ext>
            </a:extLst>
          </p:cNvPr>
          <p:cNvSpPr txBox="1"/>
          <p:nvPr/>
        </p:nvSpPr>
        <p:spPr>
          <a:xfrm>
            <a:off x="3638998" y="5516179"/>
            <a:ext cx="191486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100" dirty="0">
                <a:latin typeface="Montserrat" pitchFamily="2" charset="77"/>
              </a:rPr>
              <a:t>CO</a:t>
            </a:r>
            <a:r>
              <a:rPr lang="en-US" sz="1100" baseline="-25000" dirty="0">
                <a:latin typeface="Montserrat" pitchFamily="2" charset="77"/>
              </a:rPr>
              <a:t>2</a:t>
            </a:r>
            <a:r>
              <a:rPr lang="en-US" sz="1100" dirty="0">
                <a:latin typeface="Montserrat" pitchFamily="2" charset="77"/>
              </a:rPr>
              <a:t> net emissions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28D4DAE-7E8A-8428-5C2A-39C8A52040B3}"/>
              </a:ext>
            </a:extLst>
          </p:cNvPr>
          <p:cNvSpPr/>
          <p:nvPr/>
        </p:nvSpPr>
        <p:spPr>
          <a:xfrm>
            <a:off x="8907332" y="5272960"/>
            <a:ext cx="318471" cy="129092"/>
          </a:xfrm>
          <a:prstGeom prst="rect">
            <a:avLst/>
          </a:prstGeom>
          <a:solidFill>
            <a:srgbClr val="1BC47A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1EDA8D3-A52C-00D7-0732-B2FC2A761531}"/>
              </a:ext>
            </a:extLst>
          </p:cNvPr>
          <p:cNvSpPr/>
          <p:nvPr/>
        </p:nvSpPr>
        <p:spPr>
          <a:xfrm>
            <a:off x="8907332" y="5582438"/>
            <a:ext cx="318471" cy="129092"/>
          </a:xfrm>
          <a:prstGeom prst="rect">
            <a:avLst/>
          </a:prstGeom>
          <a:solidFill>
            <a:srgbClr val="8EC41B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6F6E0F0-7016-237F-3377-20089B894FD5}"/>
              </a:ext>
            </a:extLst>
          </p:cNvPr>
          <p:cNvSpPr txBox="1"/>
          <p:nvPr/>
        </p:nvSpPr>
        <p:spPr>
          <a:xfrm>
            <a:off x="9254490" y="5206701"/>
            <a:ext cx="191486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100" dirty="0">
                <a:latin typeface="Montserrat" pitchFamily="2" charset="77"/>
              </a:rPr>
              <a:t>CO</a:t>
            </a:r>
            <a:r>
              <a:rPr lang="en-US" sz="1100" baseline="-25000" dirty="0">
                <a:latin typeface="Montserrat" pitchFamily="2" charset="77"/>
              </a:rPr>
              <a:t>2 </a:t>
            </a:r>
            <a:r>
              <a:rPr lang="en-US" sz="1100" dirty="0">
                <a:latin typeface="Montserrat" pitchFamily="2" charset="77"/>
              </a:rPr>
              <a:t>avoided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D002F73-1AD7-A3EE-9EA2-8DE1EDA441AA}"/>
              </a:ext>
            </a:extLst>
          </p:cNvPr>
          <p:cNvSpPr txBox="1"/>
          <p:nvPr/>
        </p:nvSpPr>
        <p:spPr>
          <a:xfrm>
            <a:off x="9254490" y="5516179"/>
            <a:ext cx="191486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100" dirty="0">
                <a:latin typeface="Montserrat" pitchFamily="2" charset="77"/>
              </a:rPr>
              <a:t>CO</a:t>
            </a:r>
            <a:r>
              <a:rPr lang="en-US" sz="1100" baseline="-25000" dirty="0">
                <a:latin typeface="Montserrat" pitchFamily="2" charset="77"/>
              </a:rPr>
              <a:t>2</a:t>
            </a:r>
            <a:r>
              <a:rPr lang="en-US" sz="1100" dirty="0">
                <a:latin typeface="Montserrat" pitchFamily="2" charset="77"/>
              </a:rPr>
              <a:t> net emissions</a:t>
            </a:r>
          </a:p>
        </p:txBody>
      </p:sp>
    </p:spTree>
    <p:extLst>
      <p:ext uri="{BB962C8B-B14F-4D97-AF65-F5344CB8AC3E}">
        <p14:creationId xmlns:p14="http://schemas.microsoft.com/office/powerpoint/2010/main" val="14339496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2">
      <a:dk1>
        <a:srgbClr val="000000"/>
      </a:dk1>
      <a:lt1>
        <a:srgbClr val="FFFFFF"/>
      </a:lt1>
      <a:dk2>
        <a:srgbClr val="E6E6E6"/>
      </a:dk2>
      <a:lt2>
        <a:srgbClr val="000000"/>
      </a:lt2>
      <a:accent1>
        <a:srgbClr val="F04431"/>
      </a:accent1>
      <a:accent2>
        <a:srgbClr val="F9C831"/>
      </a:accent2>
      <a:accent3>
        <a:srgbClr val="1D31F9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>
        <a:spAutoFit/>
      </a:bodyPr>
      <a:lstStyle>
        <a:defPPr algn="l">
          <a:defRPr dirty="0" smtClean="0">
            <a:latin typeface="Montserrat" pitchFamily="2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A49DDFAEE50EA4EB7BB832A4932B316" ma:contentTypeVersion="3" ma:contentTypeDescription="Create a new document." ma:contentTypeScope="" ma:versionID="93fc1a9fdb74b3199a3fa238ab4509de">
  <xsd:schema xmlns:xsd="http://www.w3.org/2001/XMLSchema" xmlns:xs="http://www.w3.org/2001/XMLSchema" xmlns:p="http://schemas.microsoft.com/office/2006/metadata/properties" xmlns:ns2="81b90fd9-7d5d-48e0-bc6c-08395c64c4d2" targetNamespace="http://schemas.microsoft.com/office/2006/metadata/properties" ma:root="true" ma:fieldsID="d89c4d9c4ed38fd9320fb014ad058d81" ns2:_="">
    <xsd:import namespace="81b90fd9-7d5d-48e0-bc6c-08395c64c4d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b90fd9-7d5d-48e0-bc6c-08395c64c4d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0C06274-E976-42DD-8D54-0C59008E1A78}">
  <ds:schemaRefs>
    <ds:schemaRef ds:uri="http://schemas.openxmlformats.org/package/2006/metadata/core-properties"/>
    <ds:schemaRef ds:uri="http://schemas.microsoft.com/office/2006/documentManagement/types"/>
    <ds:schemaRef ds:uri="http://purl.org/dc/dcmitype/"/>
    <ds:schemaRef ds:uri="http://schemas.microsoft.com/office/2006/metadata/properties"/>
    <ds:schemaRef ds:uri="http://purl.org/dc/terms/"/>
    <ds:schemaRef ds:uri="http://purl.org/dc/elements/1.1/"/>
    <ds:schemaRef ds:uri="http://www.w3.org/XML/1998/namespace"/>
    <ds:schemaRef ds:uri="http://schemas.microsoft.com/office/infopath/2007/PartnerControls"/>
    <ds:schemaRef ds:uri="81b90fd9-7d5d-48e0-bc6c-08395c64c4d2"/>
  </ds:schemaRefs>
</ds:datastoreItem>
</file>

<file path=customXml/itemProps2.xml><?xml version="1.0" encoding="utf-8"?>
<ds:datastoreItem xmlns:ds="http://schemas.openxmlformats.org/officeDocument/2006/customXml" ds:itemID="{7B470838-9258-47A4-93D4-05C385F5264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1b90fd9-7d5d-48e0-bc6c-08395c64c4d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AAF01CA-14FD-4414-9057-AF14FFD5B8A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</TotalTime>
  <Words>690</Words>
  <Application>Microsoft Macintosh PowerPoint</Application>
  <PresentationFormat>Widescreen</PresentationFormat>
  <Paragraphs>107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Theo Henry</cp:lastModifiedBy>
  <cp:revision>2</cp:revision>
  <dcterms:created xsi:type="dcterms:W3CDTF">2025-11-26T21:42:46Z</dcterms:created>
  <dcterms:modified xsi:type="dcterms:W3CDTF">2025-11-28T09:01:43Z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0x010100CA49DDFAEE50EA4EB7BB832A4932B316</vt:lpwstr>
  </property>
</Properties>
</file>